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89" r:id="rId2"/>
    <p:sldId id="291" r:id="rId3"/>
    <p:sldId id="342" r:id="rId4"/>
    <p:sldId id="423" r:id="rId5"/>
    <p:sldId id="294" r:id="rId6"/>
    <p:sldId id="426" r:id="rId7"/>
    <p:sldId id="394" r:id="rId8"/>
    <p:sldId id="385" r:id="rId9"/>
    <p:sldId id="422" r:id="rId10"/>
    <p:sldId id="418" r:id="rId11"/>
    <p:sldId id="424" r:id="rId12"/>
    <p:sldId id="419" r:id="rId13"/>
    <p:sldId id="417" r:id="rId14"/>
    <p:sldId id="425" r:id="rId15"/>
    <p:sldId id="420" r:id="rId16"/>
    <p:sldId id="415" r:id="rId17"/>
    <p:sldId id="427" r:id="rId18"/>
    <p:sldId id="408" r:id="rId19"/>
    <p:sldId id="411" r:id="rId2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7D10DEA7-D07F-4D62-9DD0-38F7770E4F0C}">
          <p14:sldIdLst>
            <p14:sldId id="289"/>
            <p14:sldId id="291"/>
            <p14:sldId id="342"/>
            <p14:sldId id="423"/>
            <p14:sldId id="294"/>
            <p14:sldId id="426"/>
            <p14:sldId id="394"/>
            <p14:sldId id="385"/>
            <p14:sldId id="422"/>
            <p14:sldId id="418"/>
            <p14:sldId id="424"/>
            <p14:sldId id="419"/>
            <p14:sldId id="417"/>
            <p14:sldId id="425"/>
            <p14:sldId id="420"/>
            <p14:sldId id="415"/>
            <p14:sldId id="427"/>
            <p14:sldId id="408"/>
            <p14:sldId id="411"/>
          </p14:sldIdLst>
        </p14:section>
      </p14:sectionLst>
    </p:ext>
    <p:ext uri="{EFAFB233-063F-42B5-8137-9DF3F51BA10A}">
      <p15:sldGuideLst xmlns:p15="http://schemas.microsoft.com/office/powerpoint/2012/main">
        <p15:guide id="1" orient="horz" pos="225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ha Kadavakollu" initials="N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6" autoAdjust="0"/>
    <p:restoredTop sz="87665" autoAdjust="0"/>
  </p:normalViewPr>
  <p:slideViewPr>
    <p:cSldViewPr showGuides="1">
      <p:cViewPr>
        <p:scale>
          <a:sx n="66" d="100"/>
          <a:sy n="66" d="100"/>
        </p:scale>
        <p:origin x="1642" y="187"/>
      </p:cViewPr>
      <p:guideLst>
        <p:guide orient="horz" pos="225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E84B409B-9DE4-4758-86B0-D4440A01043A}" type="datetimeFigureOut">
              <a:rPr lang="en-US"/>
              <a:t>4/9/2026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B482CE10-1112-4D7A-8065-406A50CECF77}" type="slidenum">
              <a:rPr lang="en-US" altLang="en-US"/>
              <a:t>‹#›</a:t>
            </a:fld>
            <a:endParaRPr lang="en-US" altLang="en-US"/>
          </a:p>
        </p:txBody>
      </p:sp>
    </p:spTree>
    <p:extLst>
      <p:ext uri="{BB962C8B-B14F-4D97-AF65-F5344CB8AC3E}">
        <p14:creationId xmlns:p14="http://schemas.microsoft.com/office/powerpoint/2010/main" val="333018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482CE10-1112-4D7A-8065-406A50CECF77}" type="slidenum">
              <a:rPr lang="en-US" altLang="en-US" smtClean="0"/>
              <a:t>1</a:t>
            </a:fld>
            <a:endParaRPr lang="en-US" altLang="en-US"/>
          </a:p>
        </p:txBody>
      </p:sp>
    </p:spTree>
    <p:extLst>
      <p:ext uri="{BB962C8B-B14F-4D97-AF65-F5344CB8AC3E}">
        <p14:creationId xmlns:p14="http://schemas.microsoft.com/office/powerpoint/2010/main" val="2783307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482CE10-1112-4D7A-8065-406A50CECF77}" type="slidenum">
              <a:rPr lang="en-US" altLang="en-US" smtClean="0"/>
              <a:t>8</a:t>
            </a:fld>
            <a:endParaRPr lang="en-US" altLang="en-US"/>
          </a:p>
        </p:txBody>
      </p:sp>
    </p:spTree>
    <p:extLst>
      <p:ext uri="{BB962C8B-B14F-4D97-AF65-F5344CB8AC3E}">
        <p14:creationId xmlns:p14="http://schemas.microsoft.com/office/powerpoint/2010/main" val="2630134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482CE10-1112-4D7A-8065-406A50CECF77}" type="slidenum">
              <a:rPr lang="en-US" altLang="en-US" smtClean="0"/>
              <a:t>10</a:t>
            </a:fld>
            <a:endParaRPr lang="en-US" altLang="en-US"/>
          </a:p>
        </p:txBody>
      </p:sp>
    </p:spTree>
    <p:extLst>
      <p:ext uri="{BB962C8B-B14F-4D97-AF65-F5344CB8AC3E}">
        <p14:creationId xmlns:p14="http://schemas.microsoft.com/office/powerpoint/2010/main" val="1762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482CE10-1112-4D7A-8065-406A50CECF77}" type="slidenum">
              <a:rPr lang="en-US" altLang="en-US" smtClean="0"/>
              <a:t>12</a:t>
            </a:fld>
            <a:endParaRPr lang="en-US" altLang="en-US"/>
          </a:p>
        </p:txBody>
      </p:sp>
    </p:spTree>
    <p:extLst>
      <p:ext uri="{BB962C8B-B14F-4D97-AF65-F5344CB8AC3E}">
        <p14:creationId xmlns:p14="http://schemas.microsoft.com/office/powerpoint/2010/main" val="2827897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82CE10-1112-4D7A-8065-406A50CECF77}" type="slidenum">
              <a:rPr lang="en-US" altLang="en-US" smtClean="0"/>
              <a:t>17</a:t>
            </a:fld>
            <a:endParaRPr lang="en-US" altLang="en-US"/>
          </a:p>
        </p:txBody>
      </p:sp>
    </p:spTree>
    <p:extLst>
      <p:ext uri="{BB962C8B-B14F-4D97-AF65-F5344CB8AC3E}">
        <p14:creationId xmlns:p14="http://schemas.microsoft.com/office/powerpoint/2010/main" val="1234261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82CE10-1112-4D7A-8065-406A50CECF77}" type="slidenum">
              <a:rPr lang="en-US" altLang="en-US" smtClean="0"/>
              <a:t>18</a:t>
            </a:fld>
            <a:endParaRPr lang="en-US" altLang="en-US"/>
          </a:p>
        </p:txBody>
      </p:sp>
    </p:spTree>
    <p:extLst>
      <p:ext uri="{BB962C8B-B14F-4D97-AF65-F5344CB8AC3E}">
        <p14:creationId xmlns:p14="http://schemas.microsoft.com/office/powerpoint/2010/main" val="3887647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Department of EEE</a:t>
            </a:r>
          </a:p>
        </p:txBody>
      </p:sp>
      <p:sp>
        <p:nvSpPr>
          <p:cNvPr id="6" name="Slide Number Placeholder 5"/>
          <p:cNvSpPr>
            <a:spLocks noGrp="1"/>
          </p:cNvSpPr>
          <p:nvPr>
            <p:ph type="sldNum" sz="quarter" idx="12"/>
          </p:nvPr>
        </p:nvSpPr>
        <p:spPr/>
        <p:txBody>
          <a:bodyPr/>
          <a:lstStyle>
            <a:lvl1pPr>
              <a:defRPr/>
            </a:lvl1pPr>
          </a:lstStyle>
          <a:p>
            <a:fld id="{D1A0E353-E155-46F8-9FE3-B3BCD20A97D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Department of EEE</a:t>
            </a:r>
          </a:p>
        </p:txBody>
      </p:sp>
      <p:sp>
        <p:nvSpPr>
          <p:cNvPr id="6" name="Slide Number Placeholder 5"/>
          <p:cNvSpPr>
            <a:spLocks noGrp="1"/>
          </p:cNvSpPr>
          <p:nvPr>
            <p:ph type="sldNum" sz="quarter" idx="12"/>
          </p:nvPr>
        </p:nvSpPr>
        <p:spPr/>
        <p:txBody>
          <a:bodyPr/>
          <a:lstStyle>
            <a:lvl1pPr>
              <a:defRPr/>
            </a:lvl1pPr>
          </a:lstStyle>
          <a:p>
            <a:fld id="{330E8D90-5B8A-4CC9-8BFA-8E8CA5E448F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Department of EEE</a:t>
            </a:r>
          </a:p>
        </p:txBody>
      </p:sp>
      <p:sp>
        <p:nvSpPr>
          <p:cNvPr id="6" name="Slide Number Placeholder 5"/>
          <p:cNvSpPr>
            <a:spLocks noGrp="1"/>
          </p:cNvSpPr>
          <p:nvPr>
            <p:ph type="sldNum" sz="quarter" idx="12"/>
          </p:nvPr>
        </p:nvSpPr>
        <p:spPr/>
        <p:txBody>
          <a:bodyPr/>
          <a:lstStyle>
            <a:lvl1pPr>
              <a:defRPr/>
            </a:lvl1pPr>
          </a:lstStyle>
          <a:p>
            <a:fld id="{51340CF0-383F-4D93-A110-F7329006C8D0}"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Department of EEE</a:t>
            </a:r>
          </a:p>
        </p:txBody>
      </p:sp>
      <p:sp>
        <p:nvSpPr>
          <p:cNvPr id="7" name="Slide Number Placeholder 5"/>
          <p:cNvSpPr>
            <a:spLocks noGrp="1"/>
          </p:cNvSpPr>
          <p:nvPr>
            <p:ph type="sldNum" sz="quarter" idx="12"/>
          </p:nvPr>
        </p:nvSpPr>
        <p:spPr/>
        <p:txBody>
          <a:bodyPr/>
          <a:lstStyle>
            <a:lvl1pPr>
              <a:defRPr/>
            </a:lvl1pPr>
          </a:lstStyle>
          <a:p>
            <a:fld id="{6690E51B-7786-4896-A362-0117A874C92E}"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Department of EEE</a:t>
            </a:r>
          </a:p>
        </p:txBody>
      </p:sp>
      <p:sp>
        <p:nvSpPr>
          <p:cNvPr id="9" name="Slide Number Placeholder 5"/>
          <p:cNvSpPr>
            <a:spLocks noGrp="1"/>
          </p:cNvSpPr>
          <p:nvPr>
            <p:ph type="sldNum" sz="quarter" idx="12"/>
          </p:nvPr>
        </p:nvSpPr>
        <p:spPr/>
        <p:txBody>
          <a:bodyPr/>
          <a:lstStyle>
            <a:lvl1pPr>
              <a:defRPr/>
            </a:lvl1pPr>
          </a:lstStyle>
          <a:p>
            <a:fld id="{2DA175E7-357A-42F1-82A8-6B84854D3F28}"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Department of EEE</a:t>
            </a:r>
          </a:p>
        </p:txBody>
      </p:sp>
      <p:sp>
        <p:nvSpPr>
          <p:cNvPr id="5" name="Slide Number Placeholder 5"/>
          <p:cNvSpPr>
            <a:spLocks noGrp="1"/>
          </p:cNvSpPr>
          <p:nvPr>
            <p:ph type="sldNum" sz="quarter" idx="12"/>
          </p:nvPr>
        </p:nvSpPr>
        <p:spPr/>
        <p:txBody>
          <a:bodyPr/>
          <a:lstStyle>
            <a:lvl1pPr>
              <a:defRPr/>
            </a:lvl1pPr>
          </a:lstStyle>
          <a:p>
            <a:fld id="{DAC65387-772B-4DB9-B223-B86C3D7F4224}"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Department of EEE</a:t>
            </a:r>
          </a:p>
        </p:txBody>
      </p:sp>
      <p:sp>
        <p:nvSpPr>
          <p:cNvPr id="4" name="Slide Number Placeholder 5"/>
          <p:cNvSpPr>
            <a:spLocks noGrp="1"/>
          </p:cNvSpPr>
          <p:nvPr>
            <p:ph type="sldNum" sz="quarter" idx="12"/>
          </p:nvPr>
        </p:nvSpPr>
        <p:spPr/>
        <p:txBody>
          <a:bodyPr/>
          <a:lstStyle>
            <a:lvl1pPr>
              <a:defRPr/>
            </a:lvl1pPr>
          </a:lstStyle>
          <a:p>
            <a:fld id="{DCC87E5A-C157-4D8F-99A8-62A24CB99FF3}"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Department of EEE</a:t>
            </a:r>
          </a:p>
        </p:txBody>
      </p:sp>
      <p:sp>
        <p:nvSpPr>
          <p:cNvPr id="7" name="Slide Number Placeholder 5"/>
          <p:cNvSpPr>
            <a:spLocks noGrp="1"/>
          </p:cNvSpPr>
          <p:nvPr>
            <p:ph type="sldNum" sz="quarter" idx="12"/>
          </p:nvPr>
        </p:nvSpPr>
        <p:spPr/>
        <p:txBody>
          <a:bodyPr/>
          <a:lstStyle>
            <a:lvl1pPr>
              <a:defRPr/>
            </a:lvl1pPr>
          </a:lstStyle>
          <a:p>
            <a:fld id="{119DFA65-1E4B-4D03-8679-B9ADABD44C07}"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Department of EEE</a:t>
            </a:r>
          </a:p>
        </p:txBody>
      </p:sp>
      <p:sp>
        <p:nvSpPr>
          <p:cNvPr id="7" name="Slide Number Placeholder 5"/>
          <p:cNvSpPr>
            <a:spLocks noGrp="1"/>
          </p:cNvSpPr>
          <p:nvPr>
            <p:ph type="sldNum" sz="quarter" idx="12"/>
          </p:nvPr>
        </p:nvSpPr>
        <p:spPr/>
        <p:txBody>
          <a:bodyPr/>
          <a:lstStyle>
            <a:lvl1pPr>
              <a:defRPr/>
            </a:lvl1pPr>
          </a:lstStyle>
          <a:p>
            <a:fld id="{56C5E68D-56D3-4648-9470-9607278244E5}"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Department of EEE</a:t>
            </a:r>
          </a:p>
        </p:txBody>
      </p:sp>
      <p:sp>
        <p:nvSpPr>
          <p:cNvPr id="6" name="Slide Number Placeholder 5"/>
          <p:cNvSpPr>
            <a:spLocks noGrp="1"/>
          </p:cNvSpPr>
          <p:nvPr>
            <p:ph type="sldNum" sz="quarter" idx="12"/>
          </p:nvPr>
        </p:nvSpPr>
        <p:spPr/>
        <p:txBody>
          <a:bodyPr/>
          <a:lstStyle>
            <a:lvl1pPr>
              <a:defRPr/>
            </a:lvl1pPr>
          </a:lstStyle>
          <a:p>
            <a:fld id="{15406F98-7F25-4E02-AFEB-57EF0CD16980}"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02/08/2025</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Department of EEE</a:t>
            </a:r>
          </a:p>
        </p:txBody>
      </p:sp>
      <p:sp>
        <p:nvSpPr>
          <p:cNvPr id="6" name="Slide Number Placeholder 5"/>
          <p:cNvSpPr>
            <a:spLocks noGrp="1"/>
          </p:cNvSpPr>
          <p:nvPr>
            <p:ph type="sldNum" sz="quarter" idx="12"/>
          </p:nvPr>
        </p:nvSpPr>
        <p:spPr/>
        <p:txBody>
          <a:bodyPr/>
          <a:lstStyle>
            <a:lvl1pPr>
              <a:defRPr/>
            </a:lvl1pPr>
          </a:lstStyle>
          <a:p>
            <a:fld id="{ED5E5B94-951C-4C3F-BF68-347D8BEF7A00}" type="slidenum">
              <a:rPr lang="en-US" altLang="en-US"/>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02/08/2025</a:t>
            </a:r>
            <a:endParaRPr lang="en-US" dirty="0"/>
          </a:p>
        </p:txBody>
      </p:sp>
      <p:sp>
        <p:nvSpPr>
          <p:cNvPr id="5" name="Footer Placeholder 4"/>
          <p:cNvSpPr>
            <a:spLocks noGrp="1"/>
          </p:cNvSpPr>
          <p:nvPr>
            <p:ph type="ftr" sz="quarter" idx="11"/>
          </p:nvPr>
        </p:nvSpPr>
        <p:spPr/>
        <p:txBody>
          <a:bodyPr/>
          <a:lstStyle/>
          <a:p>
            <a:pPr>
              <a:defRPr/>
            </a:pPr>
            <a:r>
              <a:rPr lang="en-US"/>
              <a:t>Department of EEE</a:t>
            </a:r>
          </a:p>
        </p:txBody>
      </p:sp>
      <p:sp>
        <p:nvSpPr>
          <p:cNvPr id="6" name="Slide Number Placeholder 5"/>
          <p:cNvSpPr>
            <a:spLocks noGrp="1"/>
          </p:cNvSpPr>
          <p:nvPr>
            <p:ph type="sldNum" sz="quarter" idx="12"/>
          </p:nvPr>
        </p:nvSpPr>
        <p:spPr/>
        <p:txBody>
          <a:bodyPr/>
          <a:lstStyle/>
          <a:p>
            <a:fld id="{D51F5643-2E87-411E-BBAA-130C617D41E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pPr>
              <a:defRPr/>
            </a:pPr>
            <a:r>
              <a:rPr lang="en-US"/>
              <a:t>02/08/2025</a:t>
            </a:r>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pPr>
              <a:defRPr/>
            </a:pPr>
            <a:r>
              <a:rPr lang="en-US"/>
              <a:t>Department of EEE</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fld id="{D51F5643-2E87-411E-BBAA-130C617D41ED}"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bin"/><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ubtitle 7"/>
          <p:cNvSpPr>
            <a:spLocks noGrp="1"/>
          </p:cNvSpPr>
          <p:nvPr>
            <p:ph type="subTitle" idx="1"/>
          </p:nvPr>
        </p:nvSpPr>
        <p:spPr>
          <a:xfrm>
            <a:off x="3886200" y="3393558"/>
            <a:ext cx="3200400" cy="522924"/>
          </a:xfrm>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Batch Code: </a:t>
            </a:r>
            <a:r>
              <a:rPr lang="en-US" altLang="en-US" sz="2000" b="1" dirty="0">
                <a:solidFill>
                  <a:schemeClr val="tx1"/>
                </a:solidFill>
                <a:latin typeface="Times New Roman" panose="02020603050405020304" pitchFamily="18" charset="0"/>
                <a:cs typeface="Times New Roman" panose="02020603050405020304" pitchFamily="18" charset="0"/>
              </a:rPr>
              <a:t>EEK6252611</a:t>
            </a:r>
          </a:p>
        </p:txBody>
      </p:sp>
      <p:sp>
        <p:nvSpPr>
          <p:cNvPr id="2053" name="Rectangle 4"/>
          <p:cNvSpPr>
            <a:spLocks noChangeArrowheads="1"/>
          </p:cNvSpPr>
          <p:nvPr/>
        </p:nvSpPr>
        <p:spPr bwMode="auto">
          <a:xfrm>
            <a:off x="2286000" y="2924683"/>
            <a:ext cx="7086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dirty="0">
                <a:latin typeface="Times New Roman" panose="02020603050405020304" pitchFamily="18" charset="0"/>
                <a:cs typeface="Times New Roman" panose="02020603050405020304" pitchFamily="18" charset="0"/>
              </a:rPr>
              <a:t>Department of Electrical &amp; Electronics Engineering</a:t>
            </a:r>
          </a:p>
        </p:txBody>
      </p:sp>
      <p:sp>
        <p:nvSpPr>
          <p:cNvPr id="2054" name="Rectangle 5"/>
          <p:cNvSpPr>
            <a:spLocks noChangeArrowheads="1"/>
          </p:cNvSpPr>
          <p:nvPr/>
        </p:nvSpPr>
        <p:spPr bwMode="auto">
          <a:xfrm>
            <a:off x="7086600" y="4559300"/>
            <a:ext cx="3581400" cy="10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dirty="0">
                <a:latin typeface="Times New Roman" panose="02020603050405020304" pitchFamily="18" charset="0"/>
                <a:cs typeface="Times New Roman" panose="02020603050405020304" pitchFamily="18" charset="0"/>
              </a:rPr>
              <a:t>Under the Guidance of</a:t>
            </a:r>
          </a:p>
          <a:p>
            <a:pPr algn="ctr" eaLnBrk="1" hangingPunct="1"/>
            <a:r>
              <a:rPr lang="en-US" altLang="en-US" sz="2000" b="1" dirty="0" err="1">
                <a:latin typeface="Times New Roman" panose="02020603050405020304" pitchFamily="18" charset="0"/>
                <a:cs typeface="Times New Roman" panose="02020603050405020304" pitchFamily="18" charset="0"/>
              </a:rPr>
              <a:t>Mr.A.S.N.R.Gopal</a:t>
            </a:r>
            <a:endParaRPr lang="en-US" altLang="en-US" sz="2000" b="1" baseline="-25000" dirty="0">
              <a:latin typeface="Times New Roman" panose="02020603050405020304" pitchFamily="18" charset="0"/>
              <a:cs typeface="Times New Roman" panose="02020603050405020304" pitchFamily="18" charset="0"/>
            </a:endParaRPr>
          </a:p>
          <a:p>
            <a:pPr algn="ctr" eaLnBrk="1" hangingPunct="1"/>
            <a:r>
              <a:rPr lang="en-US" altLang="en-US" sz="2000" dirty="0">
                <a:latin typeface="Times New Roman" panose="02020603050405020304" pitchFamily="18" charset="0"/>
                <a:cs typeface="Times New Roman" panose="02020603050405020304" pitchFamily="18" charset="0"/>
              </a:rPr>
              <a:t> Assistant Professor</a:t>
            </a:r>
          </a:p>
        </p:txBody>
      </p:sp>
      <p:sp>
        <p:nvSpPr>
          <p:cNvPr id="2056" name="Rectangle 7"/>
          <p:cNvSpPr>
            <a:spLocks noChangeArrowheads="1"/>
          </p:cNvSpPr>
          <p:nvPr/>
        </p:nvSpPr>
        <p:spPr bwMode="auto">
          <a:xfrm>
            <a:off x="838200" y="4485324"/>
            <a:ext cx="449580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latin typeface="Times New Roman" panose="02020603050405020304" pitchFamily="18" charset="0"/>
                <a:cs typeface="Times New Roman" panose="02020603050405020304" pitchFamily="18" charset="0"/>
              </a:rPr>
              <a:t>Project Associates:</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b="1" dirty="0">
                <a:latin typeface="Times New Roman" panose="02020603050405020304" pitchFamily="18" charset="0"/>
                <a:cs typeface="Times New Roman" panose="02020603050405020304" pitchFamily="18" charset="0"/>
              </a:rPr>
              <a:t>K.Divya                  (22K61A0247)</a:t>
            </a:r>
          </a:p>
          <a:p>
            <a:r>
              <a:rPr lang="en-US" altLang="en-US" sz="2000" b="1" dirty="0">
                <a:latin typeface="Times New Roman" panose="02020603050405020304" pitchFamily="18" charset="0"/>
                <a:cs typeface="Times New Roman" panose="02020603050405020304" pitchFamily="18" charset="0"/>
              </a:rPr>
              <a:t>G.Sowmya             (22K61A0240)</a:t>
            </a:r>
          </a:p>
          <a:p>
            <a:pPr eaLnBrk="1" hangingPunct="1"/>
            <a:r>
              <a:rPr lang="en-US" altLang="en-US" sz="2000" b="1" dirty="0">
                <a:latin typeface="Times New Roman" panose="02020603050405020304" pitchFamily="18" charset="0"/>
                <a:cs typeface="Times New Roman" panose="02020603050405020304" pitchFamily="18" charset="0"/>
              </a:rPr>
              <a:t>CH.Suvarna          (22K61A0222)</a:t>
            </a:r>
          </a:p>
          <a:p>
            <a:r>
              <a:rPr lang="en-US" altLang="en-US" sz="2000" b="1" dirty="0">
                <a:latin typeface="Times New Roman" panose="02020603050405020304" pitchFamily="18" charset="0"/>
                <a:cs typeface="Times New Roman" panose="02020603050405020304" pitchFamily="18" charset="0"/>
              </a:rPr>
              <a:t>B.Vasavi                 (22K61A0218)</a:t>
            </a:r>
          </a:p>
          <a:p>
            <a:endParaRPr lang="en-US" altLang="en-US" sz="2000" dirty="0">
              <a:cs typeface="Arial" panose="020B0604020202020204" pitchFamily="34" charset="0"/>
            </a:endParaRPr>
          </a:p>
        </p:txBody>
      </p:sp>
      <p:sp>
        <p:nvSpPr>
          <p:cNvPr id="11" name="TextBox 10"/>
          <p:cNvSpPr txBox="1"/>
          <p:nvPr/>
        </p:nvSpPr>
        <p:spPr>
          <a:xfrm>
            <a:off x="1066800" y="533271"/>
            <a:ext cx="9753600" cy="1077218"/>
          </a:xfrm>
          <a:prstGeom prst="rect">
            <a:avLst/>
          </a:prstGeom>
          <a:noFill/>
        </p:spPr>
        <p:txBody>
          <a:bodyPr wrap="square" rtlCol="0">
            <a:spAutoFit/>
          </a:bodyPr>
          <a:lstStyle/>
          <a:p>
            <a:pPr algn="ctr"/>
            <a:r>
              <a:rPr lang="en-US" altLang="en-IN" sz="2800" dirty="0">
                <a:solidFill>
                  <a:srgbClr val="002060"/>
                </a:solidFill>
                <a:latin typeface="Times New Roman" panose="02020603050405020304" pitchFamily="18" charset="0"/>
                <a:cs typeface="Times New Roman" panose="02020603050405020304" pitchFamily="18" charset="0"/>
              </a:rPr>
              <a:t> </a:t>
            </a:r>
            <a:r>
              <a:rPr lang="en-US" altLang="en-IN" sz="3200" dirty="0">
                <a:solidFill>
                  <a:srgbClr val="002060"/>
                </a:solidFill>
                <a:latin typeface="Times New Roman" panose="02020603050405020304" pitchFamily="18" charset="0"/>
                <a:cs typeface="Times New Roman" panose="02020603050405020304" pitchFamily="18" charset="0"/>
              </a:rPr>
              <a:t>DESIGN OF AN VFD MOTOR CONTROL PANEL</a:t>
            </a:r>
          </a:p>
          <a:p>
            <a:pPr algn="ctr"/>
            <a:r>
              <a:rPr lang="en-US" altLang="en-IN" sz="3200" dirty="0">
                <a:solidFill>
                  <a:srgbClr val="002060"/>
                </a:solidFill>
                <a:latin typeface="Times New Roman" panose="02020603050405020304" pitchFamily="18" charset="0"/>
                <a:cs typeface="Times New Roman" panose="02020603050405020304" pitchFamily="18" charset="0"/>
              </a:rPr>
              <a:t>USING EPLAN ELECTRIC P8</a:t>
            </a:r>
            <a:endParaRPr lang="en-US" altLang="en-IN" sz="32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3429000" y="3840164"/>
            <a:ext cx="4064000" cy="645160"/>
          </a:xfrm>
          <a:prstGeom prst="rect">
            <a:avLst/>
          </a:prstGeom>
          <a:noFill/>
        </p:spPr>
        <p:txBody>
          <a:bodyPr wrap="square" rtlCol="0">
            <a:spAutoFit/>
          </a:bodyPr>
          <a:lstStyle/>
          <a:p>
            <a:pPr indent="457200" algn="ctr"/>
            <a:r>
              <a:rPr lang="en-US" b="1" dirty="0">
                <a:latin typeface="Times New Roman" panose="02020603050405020304" pitchFamily="18" charset="0"/>
                <a:cs typeface="Times New Roman" panose="02020603050405020304" pitchFamily="18" charset="0"/>
              </a:rPr>
              <a:t>FINAL REVIEW </a:t>
            </a:r>
          </a:p>
          <a:p>
            <a:pPr algn="ctr"/>
            <a:r>
              <a:rPr lang="en-US" b="1" dirty="0">
                <a:latin typeface="Times New Roman" panose="02020603050405020304" pitchFamily="18" charset="0"/>
                <a:cs typeface="Times New Roman" panose="02020603050405020304" pitchFamily="18" charset="0"/>
              </a:rPr>
              <a:t>          10/04/2026</a:t>
            </a:r>
          </a:p>
        </p:txBody>
      </p:sp>
      <p:sp>
        <p:nvSpPr>
          <p:cNvPr id="13" name="AutoShape 2" descr="Results for I B.Tech II Semester ..."/>
          <p:cNvSpPr>
            <a:spLocks noChangeAspect="1" noChangeArrowheads="1"/>
          </p:cNvSpPr>
          <p:nvPr/>
        </p:nvSpPr>
        <p:spPr bwMode="auto">
          <a:xfrm>
            <a:off x="2133600" y="175678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AutoShape 2" descr="Results for I B.Tech II Semester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4600" y="0"/>
            <a:ext cx="2057400" cy="68933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1551077"/>
            <a:ext cx="9753600" cy="10772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AC65387-772B-4DB9-B223-B86C3D7F4224}" type="slidenum">
              <a:rPr lang="en-US" altLang="en-US" b="1" smtClean="0">
                <a:solidFill>
                  <a:schemeClr val="tx1"/>
                </a:solidFill>
              </a:rPr>
              <a:t>2</a:t>
            </a:fld>
            <a:endParaRPr lang="en-US" altLang="en-US" b="1" dirty="0">
              <a:solidFill>
                <a:schemeClr val="tx1"/>
              </a:solidFill>
            </a:endParaRPr>
          </a:p>
        </p:txBody>
      </p:sp>
      <p:sp>
        <p:nvSpPr>
          <p:cNvPr id="5" name="Date Placeholder 4"/>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b="1" dirty="0">
                <a:solidFill>
                  <a:schemeClr val="tx1"/>
                </a:solidFill>
                <a:latin typeface="Times New Roman" panose="02020603050405020304" pitchFamily="18" charset="0"/>
                <a:cs typeface="Times New Roman" panose="02020603050405020304" pitchFamily="18" charset="0"/>
              </a:rPr>
              <a:t>Department of EEE</a:t>
            </a:r>
          </a:p>
        </p:txBody>
      </p:sp>
      <p:sp>
        <p:nvSpPr>
          <p:cNvPr id="9" name="TextBox 8"/>
          <p:cNvSpPr txBox="1"/>
          <p:nvPr/>
        </p:nvSpPr>
        <p:spPr>
          <a:xfrm>
            <a:off x="2114949" y="228600"/>
            <a:ext cx="2265373" cy="584775"/>
          </a:xfrm>
          <a:prstGeom prst="rect">
            <a:avLst/>
          </a:prstGeom>
          <a:noFill/>
        </p:spPr>
        <p:txBody>
          <a:bodyPr wrap="square" rtlCol="0">
            <a:spAutoFit/>
          </a:bodyPr>
          <a:lstStyle/>
          <a:p>
            <a:r>
              <a:rPr lang="en-IN" sz="3200" b="1" u="sng" dirty="0">
                <a:solidFill>
                  <a:srgbClr val="002060"/>
                </a:solidFill>
                <a:latin typeface="Times New Roman" panose="02020603050405020304" pitchFamily="18" charset="0"/>
                <a:cs typeface="Times New Roman" panose="02020603050405020304" pitchFamily="18" charset="0"/>
              </a:rPr>
              <a:t>Content:</a:t>
            </a:r>
          </a:p>
        </p:txBody>
      </p:sp>
      <p:sp>
        <p:nvSpPr>
          <p:cNvPr id="11" name="TextBox 10"/>
          <p:cNvSpPr txBox="1"/>
          <p:nvPr/>
        </p:nvSpPr>
        <p:spPr>
          <a:xfrm>
            <a:off x="2114949" y="682811"/>
            <a:ext cx="3591048" cy="6832640"/>
          </a:xfrm>
          <a:prstGeom prst="rect">
            <a:avLst/>
          </a:prstGeom>
          <a:noFill/>
        </p:spPr>
        <p:txBody>
          <a:bodyPr wrap="none" rtlCol="0">
            <a:spAutoFit/>
          </a:bodyPr>
          <a:lstStyle/>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Title of the project</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Aim of the project</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Objectives</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Literature survey</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Proposal abstract</a:t>
            </a:r>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Block diagram</a:t>
            </a:r>
          </a:p>
          <a:p>
            <a:pPr marL="285750" indent="-28575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Power circuit</a:t>
            </a:r>
          </a:p>
          <a:p>
            <a:pPr marL="285750" indent="-28575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Control circuit</a:t>
            </a:r>
          </a:p>
          <a:p>
            <a:pPr marL="285750" indent="-28575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Over view of 2D panel layout</a:t>
            </a:r>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en-US" altLang="en-IN" sz="2000" dirty="0">
                <a:latin typeface="Times New Roman" panose="02020603050405020304" pitchFamily="18" charset="0"/>
                <a:cs typeface="Times New Roman" panose="02020603050405020304" pitchFamily="18" charset="0"/>
              </a:rPr>
              <a:t> Characteristics of VFD</a:t>
            </a:r>
          </a:p>
          <a:p>
            <a:pPr marL="285750" indent="-28575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Advantages</a:t>
            </a:r>
          </a:p>
          <a:p>
            <a:pPr marL="285750" indent="-28575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en-US" altLang="en-IN" sz="2000" dirty="0">
                <a:latin typeface="Times New Roman" panose="02020603050405020304" pitchFamily="18" charset="0"/>
                <a:cs typeface="Times New Roman" panose="02020603050405020304" pitchFamily="18" charset="0"/>
              </a:rPr>
              <a:t> Conclusion</a:t>
            </a:r>
            <a:endParaRPr lang="en-IN" sz="2000" dirty="0">
              <a:latin typeface="Times New Roman" panose="02020603050405020304" pitchFamily="18" charset="0"/>
              <a:cs typeface="Times New Roman" panose="02020603050405020304" pitchFamily="18" charset="0"/>
            </a:endParaRPr>
          </a:p>
          <a:p>
            <a:pPr marL="0" indent="0" algn="l">
              <a:lnSpc>
                <a:spcPct val="150000"/>
              </a:lnSpc>
              <a:buFont typeface="Wingdings" panose="05000000000000000000" pitchFamily="2" charset="2"/>
              <a:buNone/>
            </a:pPr>
            <a:endParaRPr lang="en-IN" sz="2000" dirty="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endParaRPr lang="en-IN" dirty="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10155760" y="0"/>
            <a:ext cx="2036240" cy="6828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613343"/>
            <a:ext cx="10972800" cy="1052194"/>
          </a:xfrm>
        </p:spPr>
        <p:txBody>
          <a:bodyPr/>
          <a:lstStyle/>
          <a:p>
            <a:pPr>
              <a:buFont typeface="Wingdings" panose="05000000000000000000" charset="0"/>
              <a:buChar char="§"/>
            </a:pPr>
            <a:endParaRPr lang="en-US" sz="2000" dirty="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pPr>
              <a:defRPr/>
            </a:pPr>
            <a:r>
              <a:rPr lang="en-US" b="1" dirty="0">
                <a:solidFill>
                  <a:schemeClr val="tx1"/>
                </a:solidFill>
              </a:rPr>
              <a:t>Department of EEE</a:t>
            </a:r>
          </a:p>
        </p:txBody>
      </p:sp>
      <p:sp>
        <p:nvSpPr>
          <p:cNvPr id="6" name="Slide Number Placeholder 5"/>
          <p:cNvSpPr>
            <a:spLocks noGrp="1"/>
          </p:cNvSpPr>
          <p:nvPr>
            <p:ph type="sldNum" sz="quarter" idx="12"/>
          </p:nvPr>
        </p:nvSpPr>
        <p:spPr/>
        <p:txBody>
          <a:bodyPr/>
          <a:lstStyle/>
          <a:p>
            <a:fld id="{330E8D90-5B8A-4CC9-8BFA-8E8CA5E448F2}" type="slidenum">
              <a:rPr lang="en-US" altLang="en-US" b="1" smtClean="0">
                <a:solidFill>
                  <a:schemeClr val="tx1"/>
                </a:solidFill>
              </a:rPr>
              <a:t>3</a:t>
            </a:fld>
            <a:endParaRPr lang="en-US" altLang="en-US" b="1" dirty="0">
              <a:solidFill>
                <a:schemeClr val="tx1"/>
              </a:solidFill>
            </a:endParaRPr>
          </a:p>
        </p:txBody>
      </p:sp>
      <p:sp>
        <p:nvSpPr>
          <p:cNvPr id="7" name="Text Box 6"/>
          <p:cNvSpPr txBox="1"/>
          <p:nvPr/>
        </p:nvSpPr>
        <p:spPr>
          <a:xfrm>
            <a:off x="3048000" y="533400"/>
            <a:ext cx="6096000" cy="583565"/>
          </a:xfrm>
          <a:prstGeom prst="rect">
            <a:avLst/>
          </a:prstGeom>
          <a:noFill/>
        </p:spPr>
        <p:txBody>
          <a:bodyPr wrap="square" rtlCol="0" anchor="t">
            <a:spAutoFit/>
          </a:bodyPr>
          <a:lstStyle/>
          <a:p>
            <a:pPr algn="ctr"/>
            <a:r>
              <a:rPr lang="en-US" sz="3200" b="1" u="sng" dirty="0">
                <a:solidFill>
                  <a:srgbClr val="002060"/>
                </a:solidFill>
                <a:latin typeface="Times New Roman" panose="02020603050405020304" pitchFamily="18" charset="0"/>
                <a:cs typeface="Times New Roman" panose="02020603050405020304" pitchFamily="18" charset="0"/>
                <a:sym typeface="+mn-ea"/>
              </a:rPr>
              <a:t>Title of the project</a:t>
            </a:r>
            <a:endParaRPr lang="en-IN" sz="3200" b="1" u="sng" dirty="0">
              <a:solidFill>
                <a:srgbClr val="002060"/>
              </a:solidFill>
              <a:latin typeface="Times New Roman" panose="02020603050405020304" pitchFamily="18" charset="0"/>
              <a:cs typeface="Times New Roman" panose="02020603050405020304" pitchFamily="18" charset="0"/>
              <a:sym typeface="+mn-ea"/>
            </a:endParaRPr>
          </a:p>
        </p:txBody>
      </p:sp>
      <p:sp>
        <p:nvSpPr>
          <p:cNvPr id="2" name="Text Box 1"/>
          <p:cNvSpPr txBox="1"/>
          <p:nvPr/>
        </p:nvSpPr>
        <p:spPr>
          <a:xfrm>
            <a:off x="1066800" y="2613343"/>
            <a:ext cx="10677525" cy="1052194"/>
          </a:xfrm>
          <a:prstGeom prst="rect">
            <a:avLst/>
          </a:prstGeom>
          <a:noFill/>
        </p:spPr>
        <p:txBody>
          <a:bodyPr wrap="square" rtlCol="0">
            <a:noAutofit/>
          </a:bodyPr>
          <a:lstStyle/>
          <a:p>
            <a:r>
              <a:rPr lang="en-US" sz="2800" dirty="0">
                <a:solidFill>
                  <a:schemeClr val="accent4">
                    <a:lumMod val="75000"/>
                  </a:schemeClr>
                </a:solidFill>
                <a:latin typeface="Times New Roman" panose="02020603050405020304" pitchFamily="18" charset="0"/>
                <a:cs typeface="Times New Roman" panose="02020603050405020304" pitchFamily="18" charset="0"/>
              </a:rPr>
              <a:t>DESIGN AND DOCUMENTATION OF AN VFD MOTOR CONTROL       PANEL USING EPLAN ELECTRIC P8</a:t>
            </a:r>
          </a:p>
        </p:txBody>
      </p:sp>
      <p:pic>
        <p:nvPicPr>
          <p:cNvPr id="9" name="Picture 8"/>
          <p:cNvPicPr>
            <a:picLocks noChangeAspect="1"/>
          </p:cNvPicPr>
          <p:nvPr/>
        </p:nvPicPr>
        <p:blipFill>
          <a:blip r:embed="rId2"/>
          <a:stretch>
            <a:fillRect/>
          </a:stretch>
        </p:blipFill>
        <p:spPr>
          <a:xfrm>
            <a:off x="10158631" y="0"/>
            <a:ext cx="2033369" cy="6812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algn="l"/>
            <a:r>
              <a:rPr lang="en-US" sz="3600" b="1" u="sng" dirty="0">
                <a:solidFill>
                  <a:srgbClr val="002060"/>
                </a:solidFill>
                <a:latin typeface="Times New Roman" panose="02020603050405020304" pitchFamily="18" charset="0"/>
                <a:cs typeface="Times New Roman" panose="02020603050405020304" pitchFamily="18" charset="0"/>
              </a:rPr>
              <a:t>Aim of the project:-</a:t>
            </a:r>
            <a:endParaRPr lang="en-IN" sz="3600" b="1" u="sng" dirty="0">
              <a:solidFill>
                <a:srgbClr val="002060"/>
              </a:solidFill>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The aim of this project  is to design a complete Variable frequency drive (VFD) based motor control panel using EPLAN Electric P8.</a:t>
            </a:r>
          </a:p>
          <a:p>
            <a:r>
              <a:rPr lang="en-US" sz="2800" dirty="0">
                <a:latin typeface="Times New Roman" panose="02020603050405020304" pitchFamily="18" charset="0"/>
                <a:cs typeface="Times New Roman" panose="02020603050405020304" pitchFamily="18" charset="0"/>
              </a:rPr>
              <a:t> Ensuring safe ,efficient ,and reliable motor operation while complying with relevant industrial standards. </a:t>
            </a:r>
          </a:p>
          <a:p>
            <a:r>
              <a:rPr lang="en-US" sz="2800" dirty="0">
                <a:latin typeface="Times New Roman" panose="02020603050405020304" pitchFamily="18" charset="0"/>
                <a:cs typeface="Times New Roman" panose="02020603050405020304" pitchFamily="18" charset="0"/>
              </a:rPr>
              <a:t>The project focuses on developing a electrical schematic and documentation and reporting features of EPLAN Electric P8.</a:t>
            </a:r>
          </a:p>
          <a:p>
            <a:r>
              <a:rPr lang="en-US" sz="2800" dirty="0">
                <a:latin typeface="Times New Roman" panose="02020603050405020304" pitchFamily="18" charset="0"/>
                <a:cs typeface="Times New Roman" panose="02020603050405020304" pitchFamily="18" charset="0"/>
              </a:rPr>
              <a:t>This design approach helps improve Engineering accuracy and provide industry- ready documentation suitable for panel fabrication ,installation and maintenance.</a:t>
            </a:r>
            <a:endParaRPr lang="en-IN" sz="2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6" name="Footer Placeholder 5"/>
          <p:cNvSpPr>
            <a:spLocks noGrp="1"/>
          </p:cNvSpPr>
          <p:nvPr>
            <p:ph type="ftr" sz="quarter" idx="11"/>
          </p:nvPr>
        </p:nvSpPr>
        <p:spPr/>
        <p:txBody>
          <a:bodyPr/>
          <a:lstStyle/>
          <a:p>
            <a:pPr>
              <a:defRPr/>
            </a:pPr>
            <a:r>
              <a:rPr lang="en-US" b="1" dirty="0">
                <a:solidFill>
                  <a:schemeClr val="tx1"/>
                </a:solidFill>
              </a:rPr>
              <a:t>Department of EEE</a:t>
            </a:r>
          </a:p>
        </p:txBody>
      </p:sp>
      <p:sp>
        <p:nvSpPr>
          <p:cNvPr id="7" name="Slide Number Placeholder 6"/>
          <p:cNvSpPr>
            <a:spLocks noGrp="1"/>
          </p:cNvSpPr>
          <p:nvPr>
            <p:ph type="sldNum" sz="quarter" idx="12"/>
          </p:nvPr>
        </p:nvSpPr>
        <p:spPr/>
        <p:txBody>
          <a:bodyPr/>
          <a:lstStyle/>
          <a:p>
            <a:fld id="{6690E51B-7786-4896-A362-0117A874C92E}" type="slidenum">
              <a:rPr lang="en-US" altLang="en-US" b="1" smtClean="0">
                <a:solidFill>
                  <a:schemeClr val="tx1"/>
                </a:solidFill>
              </a:rPr>
              <a:t>4</a:t>
            </a:fld>
            <a:endParaRPr lang="en-US" altLang="en-US" b="1" dirty="0">
              <a:solidFill>
                <a:schemeClr val="tx1"/>
              </a:solidFill>
            </a:endParaRPr>
          </a:p>
        </p:txBody>
      </p:sp>
      <p:pic>
        <p:nvPicPr>
          <p:cNvPr id="10" name="Picture 9"/>
          <p:cNvPicPr>
            <a:picLocks noChangeAspect="1"/>
          </p:cNvPicPr>
          <p:nvPr/>
        </p:nvPicPr>
        <p:blipFill>
          <a:blip r:embed="rId2"/>
          <a:stretch>
            <a:fillRect/>
          </a:stretch>
        </p:blipFill>
        <p:spPr>
          <a:xfrm>
            <a:off x="10160000" y="0"/>
            <a:ext cx="2036240" cy="682811"/>
          </a:xfrm>
          <a:prstGeom prst="rect">
            <a:avLst/>
          </a:prstGeom>
        </p:spPr>
      </p:pic>
    </p:spTree>
    <p:extLst>
      <p:ext uri="{BB962C8B-B14F-4D97-AF65-F5344CB8AC3E}">
        <p14:creationId xmlns:p14="http://schemas.microsoft.com/office/powerpoint/2010/main" val="3850537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AC65387-772B-4DB9-B223-B86C3D7F4224}" type="slidenum">
              <a:rPr lang="en-US" altLang="en-US" b="1" smtClean="0">
                <a:solidFill>
                  <a:schemeClr val="tx1"/>
                </a:solidFill>
              </a:rPr>
              <a:t>5</a:t>
            </a:fld>
            <a:endParaRPr lang="en-US" altLang="en-US" b="1">
              <a:solidFill>
                <a:schemeClr val="tx1"/>
              </a:solidFill>
            </a:endParaRPr>
          </a:p>
        </p:txBody>
      </p:sp>
      <p:sp>
        <p:nvSpPr>
          <p:cNvPr id="5" name="Content Placeholder 4"/>
          <p:cNvSpPr>
            <a:spLocks noGrp="1"/>
          </p:cNvSpPr>
          <p:nvPr>
            <p:ph idx="4294967295"/>
          </p:nvPr>
        </p:nvSpPr>
        <p:spPr>
          <a:xfrm>
            <a:off x="609600" y="889865"/>
            <a:ext cx="11049000" cy="5095646"/>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Control motor speed by varying frequency and voltage through the VFD.</a:t>
            </a:r>
          </a:p>
          <a:p>
            <a:pPr algn="just">
              <a:lnSpc>
                <a:spcPct val="150000"/>
              </a:lnSpc>
            </a:pPr>
            <a:r>
              <a:rPr lang="en-US" sz="2400" dirty="0">
                <a:latin typeface="Times New Roman" panose="02020603050405020304" pitchFamily="18" charset="0"/>
                <a:cs typeface="Times New Roman" panose="02020603050405020304" pitchFamily="18" charset="0"/>
              </a:rPr>
              <a:t>Utilize VFD torque-boost and vector-control features for smooth torque delivery.</a:t>
            </a:r>
          </a:p>
          <a:p>
            <a:pPr algn="just">
              <a:lnSpc>
                <a:spcPct val="150000"/>
              </a:lnSpc>
            </a:pPr>
            <a:r>
              <a:rPr lang="en-US" sz="2400" dirty="0">
                <a:latin typeface="Times New Roman" panose="02020603050405020304" pitchFamily="18" charset="0"/>
                <a:cs typeface="Times New Roman" panose="02020603050405020304" pitchFamily="18" charset="0"/>
              </a:rPr>
              <a:t>Include circuit breakers, overload relays, fuses, and E-stop circuits.</a:t>
            </a:r>
          </a:p>
          <a:p>
            <a:pPr algn="just">
              <a:lnSpc>
                <a:spcPct val="150000"/>
              </a:lnSpc>
            </a:pPr>
            <a:r>
              <a:rPr lang="en-US" sz="2400" dirty="0">
                <a:latin typeface="Times New Roman" panose="02020603050405020304" pitchFamily="18" charset="0"/>
                <a:cs typeface="Times New Roman" panose="02020603050405020304" pitchFamily="18" charset="0"/>
              </a:rPr>
              <a:t>Implement Start, Stop, Forward, Reverse, and Local/Remote selection in the control logic.</a:t>
            </a:r>
          </a:p>
          <a:p>
            <a:pPr algn="just">
              <a:lnSpc>
                <a:spcPct val="150000"/>
              </a:lnSpc>
            </a:pPr>
            <a:r>
              <a:rPr lang="en-US" sz="2400" dirty="0">
                <a:latin typeface="Times New Roman" panose="02020603050405020304" pitchFamily="18" charset="0"/>
                <a:cs typeface="Times New Roman" panose="02020603050405020304" pitchFamily="18" charset="0"/>
              </a:rPr>
              <a:t>Electrical and logical interlocks to prevent wrong operations or simultaneous commands.</a:t>
            </a:r>
          </a:p>
          <a:p>
            <a:pPr algn="just">
              <a:lnSpc>
                <a:spcPct val="150000"/>
              </a:lnSpc>
            </a:pPr>
            <a:r>
              <a:rPr lang="en-IN" sz="2400" dirty="0">
                <a:latin typeface="Times New Roman" panose="02020603050405020304" pitchFamily="18" charset="0"/>
                <a:cs typeface="Times New Roman" panose="02020603050405020304" pitchFamily="18" charset="0"/>
              </a:rPr>
              <a:t>Provide PLC/DCS interface through digital/</a:t>
            </a:r>
            <a:r>
              <a:rPr lang="en-IN" sz="2400" dirty="0" err="1">
                <a:latin typeface="Times New Roman" panose="02020603050405020304" pitchFamily="18" charset="0"/>
                <a:cs typeface="Times New Roman" panose="02020603050405020304" pitchFamily="18" charset="0"/>
              </a:rPr>
              <a:t>analog</a:t>
            </a:r>
            <a:r>
              <a:rPr lang="en-IN" sz="2400" dirty="0">
                <a:latin typeface="Times New Roman" panose="02020603050405020304" pitchFamily="18" charset="0"/>
                <a:cs typeface="Times New Roman" panose="02020603050405020304" pitchFamily="18" charset="0"/>
              </a:rPr>
              <a:t> I/O and communication protocols (Modbus, </a:t>
            </a:r>
            <a:r>
              <a:rPr lang="en-IN" sz="2400" dirty="0" err="1">
                <a:latin typeface="Times New Roman" panose="02020603050405020304" pitchFamily="18" charset="0"/>
                <a:cs typeface="Times New Roman" panose="02020603050405020304" pitchFamily="18" charset="0"/>
              </a:rPr>
              <a:t>Profibus</a:t>
            </a:r>
            <a:r>
              <a:rPr lang="en-IN" sz="2400" dirty="0">
                <a:latin typeface="Times New Roman" panose="02020603050405020304" pitchFamily="18" charset="0"/>
                <a:cs typeface="Times New Roman" panose="02020603050405020304" pitchFamily="18" charset="0"/>
              </a:rPr>
              <a:t>, Ethernet/IP, etc.)</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pPr>
              <a:defRPr/>
            </a:pPr>
            <a:r>
              <a:rPr lang="en-US" b="1" dirty="0">
                <a:solidFill>
                  <a:schemeClr val="tx1"/>
                </a:solidFill>
              </a:rPr>
              <a:t>Department of EEE</a:t>
            </a:r>
          </a:p>
        </p:txBody>
      </p:sp>
      <p:sp>
        <p:nvSpPr>
          <p:cNvPr id="9" name="TextBox 8"/>
          <p:cNvSpPr txBox="1"/>
          <p:nvPr/>
        </p:nvSpPr>
        <p:spPr>
          <a:xfrm>
            <a:off x="609600" y="305090"/>
            <a:ext cx="2167581" cy="584775"/>
          </a:xfrm>
          <a:prstGeom prst="rect">
            <a:avLst/>
          </a:prstGeom>
          <a:noFill/>
        </p:spPr>
        <p:txBody>
          <a:bodyPr wrap="none" rtlCol="0">
            <a:spAutoFit/>
          </a:bodyPr>
          <a:lstStyle/>
          <a:p>
            <a:r>
              <a:rPr lang="en-IN" sz="3200" b="1" u="sng" dirty="0">
                <a:solidFill>
                  <a:srgbClr val="002060"/>
                </a:solidFill>
                <a:latin typeface="Times New Roman" panose="02020603050405020304" pitchFamily="18" charset="0"/>
                <a:cs typeface="Times New Roman" panose="02020603050405020304" pitchFamily="18" charset="0"/>
              </a:rPr>
              <a:t>Objectives:</a:t>
            </a:r>
          </a:p>
        </p:txBody>
      </p:sp>
      <p:pic>
        <p:nvPicPr>
          <p:cNvPr id="2" name="Picture 1"/>
          <p:cNvPicPr>
            <a:picLocks noChangeAspect="1"/>
          </p:cNvPicPr>
          <p:nvPr/>
        </p:nvPicPr>
        <p:blipFill>
          <a:blip r:embed="rId2"/>
          <a:stretch>
            <a:fillRect/>
          </a:stretch>
        </p:blipFill>
        <p:spPr>
          <a:xfrm>
            <a:off x="10155760" y="8409"/>
            <a:ext cx="2036240" cy="6828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AEEDC-E843-2D55-690B-5DA024181E82}"/>
              </a:ext>
            </a:extLst>
          </p:cNvPr>
          <p:cNvSpPr>
            <a:spLocks noGrp="1"/>
          </p:cNvSpPr>
          <p:nvPr>
            <p:ph type="dt" sz="half" idx="10"/>
          </p:nvPr>
        </p:nvSpPr>
        <p:spPr/>
        <p:txBody>
          <a:bodyPr/>
          <a:lstStyle/>
          <a:p>
            <a:pPr>
              <a:defRPr/>
            </a:pPr>
            <a:r>
              <a:rPr lang="en-US" b="1" dirty="0">
                <a:solidFill>
                  <a:srgbClr val="002060"/>
                </a:solidFill>
              </a:rPr>
              <a:t>10/04/2026</a:t>
            </a:r>
          </a:p>
          <a:p>
            <a:pPr>
              <a:defRPr/>
            </a:pPr>
            <a:endParaRPr lang="en-US" dirty="0"/>
          </a:p>
        </p:txBody>
      </p:sp>
      <p:sp>
        <p:nvSpPr>
          <p:cNvPr id="3" name="Footer Placeholder 2">
            <a:extLst>
              <a:ext uri="{FF2B5EF4-FFF2-40B4-BE49-F238E27FC236}">
                <a16:creationId xmlns:a16="http://schemas.microsoft.com/office/drawing/2014/main" id="{3627B052-DA18-8E62-09D1-0AD9E64065D2}"/>
              </a:ext>
            </a:extLst>
          </p:cNvPr>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a:extLst>
              <a:ext uri="{FF2B5EF4-FFF2-40B4-BE49-F238E27FC236}">
                <a16:creationId xmlns:a16="http://schemas.microsoft.com/office/drawing/2014/main" id="{1FD7F369-AE9C-5BA9-F3AB-E4298C8CF419}"/>
              </a:ext>
            </a:extLst>
          </p:cNvPr>
          <p:cNvSpPr>
            <a:spLocks noGrp="1"/>
          </p:cNvSpPr>
          <p:nvPr>
            <p:ph type="sldNum" sz="quarter" idx="12"/>
          </p:nvPr>
        </p:nvSpPr>
        <p:spPr>
          <a:xfrm>
            <a:off x="8915400" y="6356351"/>
            <a:ext cx="2844800" cy="365125"/>
          </a:xfrm>
        </p:spPr>
        <p:txBody>
          <a:bodyPr/>
          <a:lstStyle/>
          <a:p>
            <a:fld id="{DCC87E5A-C157-4D8F-99A8-62A24CB99FF3}" type="slidenum">
              <a:rPr lang="en-US" altLang="en-US" b="1" smtClean="0">
                <a:solidFill>
                  <a:schemeClr val="tx1"/>
                </a:solidFill>
              </a:rPr>
              <a:t>6</a:t>
            </a:fld>
            <a:endParaRPr lang="en-US" altLang="en-US" b="1" dirty="0">
              <a:solidFill>
                <a:schemeClr val="tx1"/>
              </a:solidFill>
            </a:endParaRPr>
          </a:p>
        </p:txBody>
      </p:sp>
      <p:sp>
        <p:nvSpPr>
          <p:cNvPr id="8" name="TextBox 7">
            <a:extLst>
              <a:ext uri="{FF2B5EF4-FFF2-40B4-BE49-F238E27FC236}">
                <a16:creationId xmlns:a16="http://schemas.microsoft.com/office/drawing/2014/main" id="{BEF4F78A-0D64-478E-B5B9-E98F22920F57}"/>
              </a:ext>
            </a:extLst>
          </p:cNvPr>
          <p:cNvSpPr txBox="1"/>
          <p:nvPr/>
        </p:nvSpPr>
        <p:spPr>
          <a:xfrm>
            <a:off x="342900" y="136524"/>
            <a:ext cx="11506200" cy="5196615"/>
          </a:xfrm>
          <a:prstGeom prst="rect">
            <a:avLst/>
          </a:prstGeom>
          <a:noFill/>
        </p:spPr>
        <p:txBody>
          <a:bodyPr wrap="square">
            <a:spAutoFit/>
          </a:bodyPr>
          <a:lstStyle/>
          <a:p>
            <a:pPr algn="just">
              <a:lnSpc>
                <a:spcPct val="150000"/>
              </a:lnSpc>
            </a:pPr>
            <a:r>
              <a:rPr lang="en-US" sz="3200" b="1" u="sng" dirty="0">
                <a:latin typeface="Times New Roman" panose="02020603050405020304" pitchFamily="18" charset="0"/>
                <a:cs typeface="Times New Roman" panose="02020603050405020304" pitchFamily="18" charset="0"/>
              </a:rPr>
              <a:t>Literature Survey</a:t>
            </a:r>
            <a:r>
              <a:rPr lang="en-US" sz="2400" b="1" u="sng"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Conventional motor control methods such as DOL and star–delta starters are simple but cause high starting current, mechanical stress, and poor energy efficiency.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Literature shows that Variable Frequency Drives (VFDs) provide effective speed and     torque control with reduced energy consumption and improved motor performance.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Studies emphasize the need for proper panel design, safety protection, and compliance with IEC standards for reliable industrial operation.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Existing research mainly focuses on theoretical aspects, with limited work on practical VFD motor control panel design using EPLAN Electric P8.</a:t>
            </a:r>
          </a:p>
        </p:txBody>
      </p:sp>
    </p:spTree>
    <p:extLst>
      <p:ext uri="{BB962C8B-B14F-4D97-AF65-F5344CB8AC3E}">
        <p14:creationId xmlns:p14="http://schemas.microsoft.com/office/powerpoint/2010/main" val="302076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10972800" cy="685800"/>
          </a:xfrm>
        </p:spPr>
        <p:txBody>
          <a:bodyPr/>
          <a:lstStyle/>
          <a:p>
            <a:pPr algn="l"/>
            <a:r>
              <a:rPr lang="en-US" sz="3200" b="1" u="sng" dirty="0">
                <a:solidFill>
                  <a:srgbClr val="002060"/>
                </a:solidFill>
                <a:latin typeface="Times New Roman" panose="02020603050405020304" pitchFamily="18" charset="0"/>
                <a:cs typeface="Times New Roman" panose="02020603050405020304" pitchFamily="18" charset="0"/>
              </a:rPr>
              <a:t>Proposal Abstract</a:t>
            </a:r>
            <a:r>
              <a:rPr lang="en-US" sz="3200" b="1" u="sng" dirty="0">
                <a:solidFill>
                  <a:srgbClr val="002060"/>
                </a:solidFill>
              </a:rPr>
              <a:t>:-</a:t>
            </a:r>
          </a:p>
        </p:txBody>
      </p:sp>
      <p:sp>
        <p:nvSpPr>
          <p:cNvPr id="5" name="Date Placeholder 4"/>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lumMod val="85000"/>
                  <a:lumOff val="15000"/>
                </a:schemeClr>
              </a:solidFill>
            </a:endParaRPr>
          </a:p>
        </p:txBody>
      </p:sp>
      <p:sp>
        <p:nvSpPr>
          <p:cNvPr id="6" name="Footer Placeholder 5"/>
          <p:cNvSpPr>
            <a:spLocks noGrp="1"/>
          </p:cNvSpPr>
          <p:nvPr>
            <p:ph type="ftr" sz="quarter" idx="11"/>
          </p:nvPr>
        </p:nvSpPr>
        <p:spPr/>
        <p:txBody>
          <a:bodyPr/>
          <a:lstStyle/>
          <a:p>
            <a:pPr>
              <a:defRPr/>
            </a:pPr>
            <a:r>
              <a:rPr lang="en-US" b="1">
                <a:solidFill>
                  <a:schemeClr val="tx1">
                    <a:lumMod val="85000"/>
                    <a:lumOff val="15000"/>
                  </a:schemeClr>
                </a:solidFill>
              </a:rPr>
              <a:t>Department of EEE</a:t>
            </a:r>
          </a:p>
        </p:txBody>
      </p:sp>
      <p:sp>
        <p:nvSpPr>
          <p:cNvPr id="7" name="Slide Number Placeholder 6"/>
          <p:cNvSpPr>
            <a:spLocks noGrp="1"/>
          </p:cNvSpPr>
          <p:nvPr>
            <p:ph type="sldNum" sz="quarter" idx="12"/>
          </p:nvPr>
        </p:nvSpPr>
        <p:spPr/>
        <p:txBody>
          <a:bodyPr/>
          <a:lstStyle/>
          <a:p>
            <a:fld id="{6690E51B-7786-4896-A362-0117A874C92E}" type="slidenum">
              <a:rPr lang="en-US" altLang="en-US" b="1">
                <a:solidFill>
                  <a:schemeClr val="tx1">
                    <a:lumMod val="85000"/>
                    <a:lumOff val="15000"/>
                  </a:schemeClr>
                </a:solidFill>
              </a:rPr>
              <a:t>7</a:t>
            </a:fld>
            <a:endParaRPr lang="en-US" altLang="en-US" b="1">
              <a:solidFill>
                <a:schemeClr val="tx1">
                  <a:lumMod val="85000"/>
                  <a:lumOff val="15000"/>
                </a:schemeClr>
              </a:solidFill>
            </a:endParaRPr>
          </a:p>
        </p:txBody>
      </p:sp>
      <p:sp>
        <p:nvSpPr>
          <p:cNvPr id="3" name="Content Placeholder 2"/>
          <p:cNvSpPr>
            <a:spLocks noGrp="1"/>
          </p:cNvSpPr>
          <p:nvPr>
            <p:ph sz="half" idx="1"/>
          </p:nvPr>
        </p:nvSpPr>
        <p:spPr>
          <a:xfrm>
            <a:off x="583894" y="1219200"/>
            <a:ext cx="11150906" cy="4648200"/>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Design of an induction motor control circuit using a VFD</a:t>
            </a:r>
          </a:p>
          <a:p>
            <a:pPr>
              <a:lnSpc>
                <a:spcPct val="150000"/>
              </a:lnSpc>
            </a:pPr>
            <a:r>
              <a:rPr lang="en-US" sz="2400" dirty="0">
                <a:latin typeface="Times New Roman" panose="02020603050405020304" pitchFamily="18" charset="0"/>
                <a:cs typeface="Times New Roman" panose="02020603050405020304" pitchFamily="18" charset="0"/>
              </a:rPr>
              <a:t>Circuit developed using EPLAN software</a:t>
            </a:r>
          </a:p>
          <a:p>
            <a:pPr>
              <a:lnSpc>
                <a:spcPct val="150000"/>
              </a:lnSpc>
            </a:pPr>
            <a:r>
              <a:rPr lang="en-US" sz="2400" dirty="0">
                <a:latin typeface="Times New Roman" panose="02020603050405020304" pitchFamily="18" charset="0"/>
                <a:cs typeface="Times New Roman" panose="02020603050405020304" pitchFamily="18" charset="0"/>
              </a:rPr>
              <a:t>Accurate control of motor speed and torque</a:t>
            </a:r>
          </a:p>
          <a:p>
            <a:pPr>
              <a:lnSpc>
                <a:spcPct val="150000"/>
              </a:lnSpc>
            </a:pPr>
            <a:r>
              <a:rPr lang="en-US" sz="2400" dirty="0">
                <a:latin typeface="Times New Roman" panose="02020603050405020304" pitchFamily="18" charset="0"/>
                <a:cs typeface="Times New Roman" panose="02020603050405020304" pitchFamily="18" charset="0"/>
              </a:rPr>
              <a:t>High efficiency and safe operation</a:t>
            </a:r>
          </a:p>
          <a:p>
            <a:pPr>
              <a:lnSpc>
                <a:spcPct val="150000"/>
              </a:lnSpc>
            </a:pPr>
            <a:r>
              <a:rPr lang="en-US" sz="2400" dirty="0">
                <a:latin typeface="Times New Roman" panose="02020603050405020304" pitchFamily="18" charset="0"/>
                <a:cs typeface="Times New Roman" panose="02020603050405020304" pitchFamily="18" charset="0"/>
              </a:rPr>
              <a:t>Includes protection and interlocking systems</a:t>
            </a:r>
          </a:p>
          <a:p>
            <a:pPr>
              <a:lnSpc>
                <a:spcPct val="150000"/>
              </a:lnSpc>
            </a:pPr>
            <a:r>
              <a:rPr lang="en-US" sz="2400" dirty="0">
                <a:latin typeface="Times New Roman" panose="02020603050405020304" pitchFamily="18" charset="0"/>
                <a:cs typeface="Times New Roman" panose="02020603050405020304" pitchFamily="18" charset="0"/>
              </a:rPr>
              <a:t>Terminal layouts and bill of materials provided</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982200" y="28353"/>
            <a:ext cx="2133600" cy="6828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393617" y="6442072"/>
            <a:ext cx="2844800" cy="365125"/>
          </a:xfrm>
        </p:spPr>
        <p:txBody>
          <a:bodyPr/>
          <a:lstStyle/>
          <a:p>
            <a:pPr>
              <a:defRPr/>
            </a:pPr>
            <a:r>
              <a:rPr lang="en-US" b="1" dirty="0">
                <a:solidFill>
                  <a:srgbClr val="002060"/>
                </a:solidFill>
              </a:rPr>
              <a:t>10/04/2026</a:t>
            </a:r>
          </a:p>
          <a:p>
            <a:pPr>
              <a:defRPr/>
            </a:pPr>
            <a:endParaRPr lang="en-US" b="1" dirty="0">
              <a:solidFill>
                <a:schemeClr val="tx1">
                  <a:lumMod val="85000"/>
                  <a:lumOff val="15000"/>
                </a:schemeClr>
              </a:solidFill>
            </a:endParaRPr>
          </a:p>
        </p:txBody>
      </p:sp>
      <p:sp>
        <p:nvSpPr>
          <p:cNvPr id="6" name="Footer Placeholder 5"/>
          <p:cNvSpPr>
            <a:spLocks noGrp="1"/>
          </p:cNvSpPr>
          <p:nvPr>
            <p:ph type="ftr" sz="quarter" idx="11"/>
          </p:nvPr>
        </p:nvSpPr>
        <p:spPr/>
        <p:txBody>
          <a:bodyPr/>
          <a:lstStyle/>
          <a:p>
            <a:pPr>
              <a:defRPr/>
            </a:pPr>
            <a:r>
              <a:rPr lang="en-US" b="1" dirty="0">
                <a:solidFill>
                  <a:schemeClr val="tx1">
                    <a:lumMod val="85000"/>
                    <a:lumOff val="15000"/>
                  </a:schemeClr>
                </a:solidFill>
              </a:rPr>
              <a:t>Department of EEE</a:t>
            </a:r>
          </a:p>
        </p:txBody>
      </p:sp>
      <p:sp>
        <p:nvSpPr>
          <p:cNvPr id="7" name="Slide Number Placeholder 6"/>
          <p:cNvSpPr>
            <a:spLocks noGrp="1"/>
          </p:cNvSpPr>
          <p:nvPr>
            <p:ph type="sldNum" sz="quarter" idx="12"/>
          </p:nvPr>
        </p:nvSpPr>
        <p:spPr/>
        <p:txBody>
          <a:bodyPr/>
          <a:lstStyle/>
          <a:p>
            <a:fld id="{6690E51B-7786-4896-A362-0117A874C92E}" type="slidenum">
              <a:rPr lang="en-US" altLang="en-US" b="1">
                <a:solidFill>
                  <a:schemeClr val="tx1">
                    <a:lumMod val="85000"/>
                    <a:lumOff val="15000"/>
                  </a:schemeClr>
                </a:solidFill>
              </a:rPr>
              <a:t>8</a:t>
            </a:fld>
            <a:endParaRPr lang="en-US" altLang="en-US" b="1">
              <a:solidFill>
                <a:schemeClr val="tx1">
                  <a:lumMod val="85000"/>
                  <a:lumOff val="15000"/>
                </a:schemeClr>
              </a:solidFill>
            </a:endParaRPr>
          </a:p>
        </p:txBody>
      </p:sp>
      <p:sp>
        <p:nvSpPr>
          <p:cNvPr id="3" name="Content Placeholder 2"/>
          <p:cNvSpPr>
            <a:spLocks noGrp="1"/>
          </p:cNvSpPr>
          <p:nvPr>
            <p:ph sz="half" idx="1"/>
          </p:nvPr>
        </p:nvSpPr>
        <p:spPr>
          <a:xfrm>
            <a:off x="413657" y="296971"/>
            <a:ext cx="11201400" cy="5791200"/>
          </a:xfrm>
        </p:spPr>
        <p:txBody>
          <a:bodyPr/>
          <a:lstStyle/>
          <a:p>
            <a:pPr marL="0" indent="0">
              <a:buNone/>
            </a:pPr>
            <a:r>
              <a:rPr lang="en-US" sz="3600" b="1" u="sng" dirty="0">
                <a:solidFill>
                  <a:srgbClr val="002060"/>
                </a:solidFill>
                <a:latin typeface="Times New Roman" panose="02020603050405020304" pitchFamily="18" charset="0"/>
                <a:cs typeface="Times New Roman" panose="02020603050405020304" pitchFamily="18" charset="0"/>
              </a:rPr>
              <a:t>Block diagram:</a:t>
            </a:r>
          </a:p>
          <a:p>
            <a:pPr marL="0" indent="0">
              <a:buNone/>
            </a:pPr>
            <a:endParaRPr lang="en-US" sz="3600" b="1" u="sng" dirty="0">
              <a:solidFill>
                <a:srgbClr val="002060"/>
              </a:solidFill>
              <a:latin typeface="Times New Roman" panose="02020603050405020304" pitchFamily="18" charset="0"/>
              <a:cs typeface="Times New Roman" panose="02020603050405020304" pitchFamily="18" charset="0"/>
            </a:endParaRPr>
          </a:p>
          <a:p>
            <a:pPr marL="0" indent="0">
              <a:buNone/>
            </a:pPr>
            <a:endParaRPr lang="en-US" sz="3600" b="1" u="sng" dirty="0">
              <a:solidFill>
                <a:srgbClr val="002060"/>
              </a:solidFill>
              <a:latin typeface="Times New Roman" panose="02020603050405020304" pitchFamily="18" charset="0"/>
              <a:cs typeface="Times New Roman" panose="02020603050405020304" pitchFamily="18" charset="0"/>
            </a:endParaRPr>
          </a:p>
          <a:p>
            <a:pPr marL="0" indent="0">
              <a:buNone/>
            </a:pPr>
            <a:endParaRPr lang="en-US" sz="3600" b="1" u="sng" dirty="0">
              <a:solidFill>
                <a:srgbClr val="002060"/>
              </a:solidFill>
              <a:latin typeface="Times New Roman" panose="02020603050405020304" pitchFamily="18" charset="0"/>
              <a:cs typeface="Times New Roman" panose="02020603050405020304" pitchFamily="18" charset="0"/>
            </a:endParaRPr>
          </a:p>
          <a:p>
            <a:pPr marL="0" indent="0">
              <a:buNone/>
            </a:pPr>
            <a:endParaRPr lang="en-US" sz="3600" b="1" u="sng" dirty="0">
              <a:solidFill>
                <a:srgbClr val="002060"/>
              </a:solidFill>
              <a:latin typeface="Times New Roman" panose="02020603050405020304" pitchFamily="18" charset="0"/>
              <a:cs typeface="Times New Roman" panose="02020603050405020304" pitchFamily="18" charset="0"/>
            </a:endParaRPr>
          </a:p>
          <a:p>
            <a:pPr marL="0" indent="0">
              <a:buNone/>
            </a:pPr>
            <a:r>
              <a:rPr lang="en-US" sz="3600" b="1" dirty="0"/>
              <a:t>                   </a:t>
            </a:r>
            <a:endParaRPr lang="en-IN" sz="3600" b="1" dirty="0"/>
          </a:p>
        </p:txBody>
      </p:sp>
      <p:sp>
        <p:nvSpPr>
          <p:cNvPr id="11" name="AutoShape 2" descr="data:image/jpeg;base64,/9j/4AAQSkZJRgABAQAAAQABAAD/2wCEAAkGBxISEBAQEBEREBUXFRUVEBgVFRUQFRISFxUWFhYYGBMYHiggGRolGxsYITMhJSkrMS8uGB8zODMtQyg5Ly8BCgoKBQUFDgUFDisZExkrKysrKysrKysrKysrKysrKysrKysrKysrKysrKysrKysrKysrKysrKysrKysrKysrK//AABEIALIBGwMBIgACEQEDEQH/xAAbAAEAAgMBAQAAAAAAAAAAAAAABQYCAwQBB//EAFUQAAIBAwIEAwMFCAsMCwEAAAECAwAEERIhBQYTMSJBURRhcSMyM0KBJERUkaGxwdEHFVJTYmSDkrK0wxY0NWNyc3SEk5Sks0NFgqLCxNLT1OHwJf/EABQBAQAAAAAAAAAAAAAAAAAAAAD/xAAUEQEAAAAAAAAAAAAAAAAAAAAA/9oADAMBAAIRAxEAPwD7jSlKBSlKBSlKBSlKBSlKBSlKDj4xxBbeCW4dWZY1LuFwW0jckAn0qOi5jHViie3niMjhULhNBzHJLnUrHyjOV7jK7b11cy2bzWdzBFp1yROiayVXLKRkkAkD7K4Ljl7Elo0Coumfq3GWbcezSQZUYOTuu23Y0E911wDqXBxjcb57fjrJHBGQQR7t+2xqh8N5TuUh6Dpb6Ta29oWEjEqIZJSZVBX52h8qM5BAyfOrXy3bSxW0cMwQOgKZQ5DgEhXOwwzDDEY7k0EnSlKBSlKBSlKBSlKBXmaGvmUvEGtOvJHouZRbXl1aTKxJmClSyXUAwcqWVQQey48Pag+nUqltzNI8rJHPbIvtfQDkBwENl7QN+oAW1/k8vOueLmm5KxuGgcmOxdYgjK05uJpIpChLZC6VDjw7Y3ON6C9g17Xz7g/Ep4LSIw9ORHuL+AbO7LcNdTezsWGQI8gqcjbUmKv8YIADHJwMnGMnzOPKgypSlApSlApSlApSlApSlApSlApSlApSlAoaVi6ggg7g7H4UEUeYocavlMEqIjobExdiiiM/WyQfs37b1zvzdbDGTJ81mfwE9MJKIZNePm6X2PwPfFYQcqKkKQC4n0xMrWo8GLcIxZAAF8QA8PiydO3vrU/JcRSUdWYPJFLHI46fiaabru+krgHXnbtjb30HTHzPEWCNHMrGaaFBo1amh3Y5GyjAJ39K5uKc0g28jWhDS6BJbh1OmePqrHqXByVyQM/wlPnXRHyvGJ45+rKdE00wQ6NBaeMxyDZc4yS3fOT6bVoTkyEaQssw0R9GD5h6MPVSXQuVOd0QZbJwv20FmpSlApSlApSlApSlArTDaRoSUjRCfnaVC5+OO9bqUHBf2sOYpJMIInBTGFXWymIZHns+PtrOPh6Cd7jcsyRpvjCrGZCNO2RnWc1w83k+ytjOepBjHmevHt2qaoOG44YjyxSsXPTyUTPyes7ByvmwBOD5ZrupSgUpSgUpSgUpSgUpSgUpSgUpSgUpSgUpSg1XUmlHb0Vj5eQJ89qrnBuHXUtvBK3E7nLxRu2IrQDLICf+h9TU7xabRbzvjOmKRsZ05wpOM4OPjitXLyYtLUekEQ/FGtBHz2bxmJZOJXQMj9OPK2o1PpZ9IxD30qx+yuwcJk/Dbv8A4f8A9quHmqPM/Cfdek+Q+9Lr3j9NSfHOJrbW81ww1aFJVR3kfsiL/CZsKPeaDUnCXH35dH4mE/2dDwuXb7tue+T4bfcY7fRfb9lcVlPxTTqlhsCSAQqyzJpONwWKNq+zFdnCp7xnYXMFvEmnwNHM8zFs9irRrgY880HFxW2mgSORby5c9e2Uhhb6WR7mKNwcRA7qxGxFWKobmtsWwPpcWZ/4uGpmgUpVR4LxO5nMUJc60uLk3LKF2t455UhQ7EanAT0OAxoLdSq5wS+vWvLmO4hCwqMxOMAMdsDGfD4T6vkg7pstWOgUpVd4dc3twJnSW1iVZ7iJFNvJM2mKZ4gWfrKMnTnYedBYqZqEaz4h+GWo/wBTf/5Fb+heZ/vi2Ixv9zP39fp6CG/ZK4xBa2kbXLmNWubfSdDOMpKkpyFB+qrH34q0WtwsiJIudLKGXIKnSRkZB3G1V/mPlyS9gNvcS27JrR8ezv3RgwH03njB9xPaux7W/Pa7tR/qkh/8xQTNKgTYcR/D7YfCyb9M9ex8Pv8A61/Edj2tAN/X6WgnaVDcPnnW6a3mkSUdFZFIj6R1GR1IPiORjH4qmaBSlKBSlKBSlKBSlabu6SJGkldUQfOZjgDfA3+OKDdSoKbnHh6HS15Ap74LAHHwrwc52B7XUZ+Go/mFBPUqFXmuzPabPwSQ/mWtw5gtsZMuBkDxK67nYDcUEpStVtcLIoeNgynsR54OD+WttBx8YXNtcD1ikH/cNYcAP3Jan/Exf0FrpvFzHIPVWH4wa4+Wz9xWf+Yh/wCWtBHc33McT8NlmkWFFuyWZiFX+87ruTWu0ga+niupVeO2iIe0icFGll3+XljIyoAxoU+uogHGObmdbp5eHhra2dVvtSfKyOMC2uQpcdHCHfvvg4Hnmp5prvygtj8bmQf2FBJUqJNxfeVtaef31J9n3vWdlLeFwJobZEwcmOeSV8+WFaJR+Wg5ucBm3Rf3VzaKO/c3UOOwNTlQnN0eq3VckA3NmG0ko2Ddwg4YEFT7wQa2Ny3Ae5uj8bu7P9rQS9ctlw+OIzGNdJlkMsu5OqQqqFt+2yqPsqPTla2BDATZHY+03J/PJW+PgUK/N6w7Z+Xn8u316CTpUSeXoT3a5/3u6/N1K1NyranuJz8bq6P9pQSc99EjpG8iI756aswUvjvpB71Ecmn5K5Hpe3v9ZkP6ai+M/saWNzJA8nXCxljoEshDscYJZiWGMeRHeu7kSBY4bmOMYVLy7VRktgCZvMkk/bQWWlKxDj1HvoMqV5qHqK8MgAySAPj50GVKwWZSxUMpYdxkZHxHlWdBEf8AWPxtfzS//dS9QryD9s0Xz9lcn4dVMfpqaoFKUoFKUoFK57m9ijx1ZY485xrZUzjvjJ3rQeN2v4Tb/wC1T9dB31XP2QFzYOP8daf1yDtuN6k145anOLm3OO/yqfrqn80c22d1bz20EyvPHc2qtESFdtN7Bkr5OuN8gmgt/Hb5oY0dApJmgjOrJGmSZI27Eb4Y499SNV/nZ8W0f+lWY8vwqKs+KceZZvZbSH2mfGXy3ThtwR4TNLglc+SqGY4O1BOUquR8Hv3JafiTR/wLaCGNB5/OlV3J7jOQCANh5zXDbQxRhGllnOSS8hUscnP1QAB7gKDm5c+g/lZ/+fJUnVa5c4zbrC6yXECET3QIaRFIxcSjcE1ItzHZDvd2w/lY/wBdB3XkOuOSPUV1Ky5ABK6gRnB2OPfULZcNvooo4lurTCIqKfZZCSFAUZ+6O+1b25rsB3vbUfyqfrrBeb+Hk4F7bE+6VD+mg3rbXu2bm3Pr9zOM7f5/13qG5243c8Psprtp7U6MBVNtKdbMQFXaepz9v7T8Jg/nr+v31XOfOJWM9hcI0trMQoZFLJJ4wRjA9d/y0ExateSxpLHdWZV1DIfZZTlWAI++azNnfn78th8LRv0z1ph5m4ZCqxJd2cSoAqIskaqijsAoOwrMc48P8r23PwkBoMJ+DXcmhZr2NkEkUjKtsELdKVJQNRkOMlQO1WCoePmizb5tzEfgc1t/ugtf39Py49O+KCTpUG3OHDx3vbf3fKLXq822J7XcJ+DZoJulRK8yWh7Tofhk/orNeP2x7Sj+a36qCTqA5PXEVzuN729Jx5fdMgri5j/ZBsrF4BcOwWXX41UtoK4+cgGog57gHyrq5HnWS3mdDqVru8Kn1U3MhB/FigsVUniXC8XU9mEzDfNHM+wKqY9IulO2AHRY8ZyS0jnbFXalB89seEmXiHERH7JoW7tndXh1ylUhh+jkDYTDIPqncHceXZwzhWi6awaJTBDM19B4F0lZNRRAe2pZzK3uAT7bqBXtB895VgRL2FUVZ4yt1NBJpKXNqZJA00VyR4XDOxwdj4B3719CpSghFP8A/Ubf70XHr9M2f0VN1ED/AAiffaj8kp/XUvQKUpQKUpQc9zZRSYMkccmM6daq+M98ZG3lUBLxK2VnWKzEgWVINapCqGZm0lASc5UkZ289s4NT3EL1IY2kkOFGBnBbckAbAZ7kVF8ocMEVlCrxqrsTPKCoBE0jmVsj90C2PsoJQWEWQ3Si1DsdC5HwONqqPM3K9nbwTXENtEkr3Fs7yaQXybuEthjuo9wxV3qB54H3DL7mgP4p4zQR37JvEFis1IZOqJ7doUMixF3E6Bdz2UEgk+gNbuX+JWFrAsR4haSSHLzyNcRapZm3dzlvM9h5AAeVSXMvDfaYViDqhE1vLk7giKZJSMe8KR9tdumEfvQ/mig4xzRYfh1n/t4v/VXTY8Wt5iVgnhmIGWEciSED1OknFbVuYhsHjHwZazW4Q9nU/Bgf/wB50Ff5LtEa1LNHGWM9ySdKnJNxIe9WFYEHZVHwAFQ/JoPsxDDGJ7oL71FzLpPwIxU5QY6B6D8VNA9BWVKDEoPQU0D0H4qypQY6B6D8Ve6R6CvaUHmK9xSlB5pHoKYr2lAqv2/M6Ot1MqqbeFigkEikvKjlJF0fVAOMHJzvt2zLcRu+lGXCSSHYBY1MjEnYeEb4z3Pl3rj5a4c0NlbwTeJxGOtk68yt4n3JOfETvQY8Mlt76KC76KPjxQl1VzG3YlTvpPl5HatHJ30d2P47eflnY/pqcghVFCoAoAAAGwAAwPyVHQ8CiQyFWnXXI0rASyKNb7tgAjAzvj30EpSqtzDw1o40aK6u0zPaxn5XVhJLiONwNQJ3VjufdXevL3rd3x/lyPzCgmqVWuNcL6USslxd561upzPIfC88aMO/mpIqRbgUZ7yXX+9XA/8AHQSlKqnN1n7Nw+8nhmuY3jgkdGM80mllQ6TpZiDvv9lTH7TqQMy3Pr9PKPzNQan/AMIp77V/ySp+upio6z4NFHKZ16jSFBHqeWSXCBi2AHYgbnyqRoFKUoFKUoPMV7SlArTdWqSo0cqJIjDDK6h1YehU7Gt1KCtcTsOHRSQxvYwu0pcRhbZJMlF1MCQNvDk5O21ecP4TwqdS8dnZbOY3DW8SskoOCjKVyG93vFdPHLSZrqwlijEiRNM0mXCEF4yi4BG/c+f46r19yhPIzySKk4ne4e4hErQqrSR28cRWQLk6Fh3OAcyEj0oJqz4Vw4tP9w2sXRlETFoIFBYpG6lSM7ESKBnBz5V3jglkMn2a1GcKfko9yCQF7epO3vNVrivL13IJQIrd9dyWBdySsRsBbalJU6TrXcbnSTvk5rZwbhYN8ACSsUcMl54WAN+sZiQiTADkxli3fdYztncLlBCqKFRVRRnAUBQMnJ2HvrZSlApSlApSlApSlApSlApSlApSlApSlBEc0fQR/wCk2X9cgqXqC5zk02oP8Ys/63DU7QRPM7gQAn9/tv6zFUtVe55/vWPy+6rMH4e1RZqw0EFz0ueGX4/i8v8AQNTi9hURziM8Ovh/F5v6BqWjOw+AoMqUpQKUpQKUpQKUpQKUpQKUpQKUpQKUpQKUpQKUpQKUpQKUpQKUpQKUpQKUpQR3MPDfabaSEEKxw0TEZCTIweNiPMB1UkeYzWXA+I+0QrJjS4ykyeccyHTIh+DA/EYPnXfVT0StfXQsXWNW0C9kZdapOqjHSGfFKU0K2dlAXudqCR5ui1W6A9vabTPw9piqbqDXliEkmZ7m4JOrMk8pAOcgrGrBFwdxgDBAIxivTwNostaXE0Z76ZZJLqI4HYrIxZR/kkd870Gjmoi40cNAz7QGNwd8JaLgSHI7FiRGPPxE/VqwgVWuUnLS3r3ChLsyBZ0zqEcC5FuI3IGqIrl84HieTsQamJ+KxpcRWraupKrvGNJIKpjWdXYYyv8AOFB3UrxjtXNw2/SeJJoslGB05BU7Eg5U7g5BoOqlari5SNdUjKgyASxAGWIAGT6kgUgnDatmXSxU6lK5I8xnuD60G2leV7QKUpQKUpQKUpQKUpQKUpQKUpQKUpQKUpQKUpQKUpQKUpQKUpQRvMd80FpcTIAWSNjGCcAyYwgz/lYrZwXh628EUK76VGonGXc7uzEd2LZJPqa4+c4S1hcaQWKKJlULrLmF1mCBfMtox9tStrcLIiSIQyuoZSNwVYZBoNtKUoK/zMejLZ3gIXTKsE22dcFwwTTtvkS9JgfLDetR3OXC7ie5iMMLuos7+FnDxoFkuEiEYwXDfUO+NsipLm99SW1uMlprmELjfCxt13Y79gsZ39SPWp+goMPArlemfZ2aNXtpJoTKmJ2WCRJDuxBKyGN98aun7q0cN5dvYgo6RwwtfCJUAi6F7LK2TnctE6jbOdJBq7cS4vDAQJWKkqzABXclUxqOFB2GRWteP25BIkzhxHgKxYuydQALjJyni28qCstwGcxMGtleVZ0Z3MoPtUaXaTjCnb5uoYbGk5A2OawTgFyrSF4OtF7XdSdLWnijmjUROupgvhOoYOCM5FWFOabUliHOgRQSrJgmORZ3dIlRh85iy4xjzHvxui5itmaNFkJdy4VQj6vA4jfUuMrpYgHOMZoKracs3CNbyNEXmT2APN1c+GJNFwRqbJJGQTjLbZ7bX6vaUClKUClKUClKUClKUClKUClKUClKUClKUClKUClKUClKUClKUHhFV22f9r8xOCbTJMDqu1qpx8lIB2jBJ0uBhVwpxpybHSg02t3HKiyRSJIjDKsjB1YeoYbEVzcS4vDAB1ZAC20aDxySt+5SMeJz7gKwfgNqWL+zxBjnJChScjBzj3VusOFQQ/Qwxxd91UA799+9Bw8KspXna8uVCNpMdtGDq6EJYElm7GR8KTjZQAozgkzVKUETxjgxnkjkEnT0RzIPAHOZU0ask7Y7486jzyn8slwsxEqtEykoChKQNA2pM5IZWz84EEDfyNmpQVU8mDSqrcONK2+klEz17eeS4SQgYGCzsCgAGO2K6uGcs9K6F11dTFbjqjRpDvPJC5I8R0hREqgb+uasFKBSlKBSlKBSlKBSlKCtc28xPaS2agRBJ5GjZ5Cw6WlGkLYB8QwpGMj41hac16Wm9s6UCxxRy5y+WWSR0Q6WUfOATC9wWII2rp5i5da6ns5esEW3kMgQx6+oxUoQzahgaSR2qJ5q5TkkW4aBlIkghtki0hRHGkqsXDlvEQurC+HO2470Fp4ZxKK4RnibUFdo2yCpWRDpdSD5g7VD3XNKe3ewoUUqYxK8mdPUkUskMYHzpSo1bkYBB37Vq5X4RdJoM8giCSznRGioLlZNLCSZdTaZA+vsxzkE+le8S5KimuvaDIyq08FxLHgEPPbxtHGwb6o0kZG+dAxjfIbObeYJLM27BYdEk8MJ1sVYmV9LEHsoQeLfOc+WN/YuZC/E1skj+S6EshlP15I5EQqoH1QSQSe5Bx2yfLjld5U6E97NPAVCzI6RFpCshkB6gXK5HhO24Axpry25JtY+ILxCJOm4SUFR81nlbU0h9+7D/tGgsoqv8R460E88c3TWMWr3FuwDFm6X0wYZ305jO3cP5Y3sFRvGeCRXXQ62r5GZJkwcAunYMPrL7j6Cg4YOZo1j+6NSSLGXlCxuVyrKkujuWCMwBIz3r215jRpJgS2FEJVOjKsqmUPjWGHnpPwwc1om5PR5pZnuJj1FmQgCIHpzGM6dZUsdJQY32G2K2cQ5VWWaWbryoZDb6gBGU0QCQBSrKQwbqMTqzuF9KDTDzfF13VyeiyWjW8ixuR906wvUfsoJC4Jx3rGx5zhWGNrySOKR5JlCrnARbl4EYg7jOFB9+a2W3JsaIsZmlkTp28cisE+UW2ZmiyyqMbsM476R23zss+U0ibVHcXCMdYcr0gXR5nn0HKbAM74IwcMd6DfzHxWSE2sUIXXcSmJGYalQiKSTJAIJ+bjA8snyrmXnS0Eet5CMBtR0OAemwSUqDuVVyFJ8iRUrxHhSTPbSMzqYJerHpxgt05IiGyDkaXbtg5xvUfHywq9BknmSSLrKHXpgtHNIJJEZdOnuFwQARig2XHNFujMpMhwzoWWN2QyRxGZ1DgYJCA/apHcYrC45ttEXWZMg9Lp7Y6vVjMqaCcA5QE/ZXDf8rt7RAY3d4DcTTXEbuulOrA8TFPDqJLOTgttqbHkK3W3JqIBpurvUogEbkwa06MbxDHyWDqRiG1A52xig3/3XW2uNR1SHEDB+mRGFnLCIljjGWUj3HvWQ5pg0h2EyRs0SxyGNunJ1n6cbKw+qXwN8dwexzWFzyrHIxd57liTbH50f3vI0i76M+JmOrfzwMVz3fLbx2z29tJJIHUxIJpdKWsTEnVGETLFPDpDHPhA1CgmBxeLoPc5IjXXkkEZ0MVOkfWyRtjvkY71xzczRrlTFcawJGZOn4hHFo1vjOCvjXsTnO3Y12XXBoZLU2bKekUCYBwQFxpIP7oEA59RXFLyyraGa4uWkCSRtKWj1vHIFDKyhNAHhU+FRgrnzOQx/urgMkaKJGEjKsMgAMUjPD1o9L5+sucHHceVabbnCIxQySRSx67dblx4WEUbA7s2rfcYAG5LDb06IeVYUZCrShY5IpIUyuiPpQmBVUac6NB7Enf0rC25RgWPpM00yezC1xIyn5JWLA5VQde48X8EfGg1XPMbGS3jRHiY3SQ3CyqM9N4JZFZWViCCVXcE9iDv2stQq8txa1kZpZJFkjk1sV1MYkZEU4AGgBmOABuxPnU1QKUpQKUpQKUpQKUpQKUpQKUpQKGlKDwV7SlApSlApSlApSlApSlApSlB5XtKUCvKUoPaUpQKUpQKUpQKUpQKUpQKUpQf/2Q=="/>
          <p:cNvSpPr>
            <a:spLocks noChangeAspect="1" noChangeArrowheads="1"/>
          </p:cNvSpPr>
          <p:nvPr/>
        </p:nvSpPr>
        <p:spPr bwMode="auto">
          <a:xfrm>
            <a:off x="-34925" y="-36740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2" descr="data:image/jpeg;base64,/9j/4AAQSkZJRgABAQAAAQABAAD/2wCEAAkGBxISEBAQEBEREBUXFRUVEBgVFRUQFRISFxUWFhYYGBMYHiggGRolGxsYITMhJSkrMS8uGB8zODMtQyg5Ly8BCgoKBQUFDgUFDisZExkrKysrKysrKysrKysrKysrKysrKysrKysrKysrKysrKysrKysrKysrKysrKysrKysrK//AABEIALIBGwMBIgACEQEDEQH/xAAbAAEAAgMBAQAAAAAAAAAAAAAABQYCAwQBB//EAFUQAAIBAwIEAwMFCAsMCwEAAAECAwAEERIhBQYTMSJBURRhcSMyM0KBJERUkaGxwdEHFVJTYmSDkrK0wxY0NWNyc3SEk5Sks0NFgqLCxNLT1OHwJf/EABQBAQAAAAAAAAAAAAAAAAAAAAD/xAAUEQEAAAAAAAAAAAAAAAAAAAAA/9oADAMBAAIRAxEAPwD7jSlKBSlKBSlKBSlKBSlKBSlKDj4xxBbeCW4dWZY1LuFwW0jckAn0qOi5jHViie3niMjhULhNBzHJLnUrHyjOV7jK7b11cy2bzWdzBFp1yROiayVXLKRkkAkD7K4Ljl7Elo0Coumfq3GWbcezSQZUYOTuu23Y0E911wDqXBxjcb57fjrJHBGQQR7t+2xqh8N5TuUh6Dpb6Ta29oWEjEqIZJSZVBX52h8qM5BAyfOrXy3bSxW0cMwQOgKZQ5DgEhXOwwzDDEY7k0EnSlKBSlKBSlKBSlKBXmaGvmUvEGtOvJHouZRbXl1aTKxJmClSyXUAwcqWVQQey48Pag+nUqltzNI8rJHPbIvtfQDkBwENl7QN+oAW1/k8vOueLmm5KxuGgcmOxdYgjK05uJpIpChLZC6VDjw7Y3ON6C9g17Xz7g/Ep4LSIw9ORHuL+AbO7LcNdTezsWGQI8gqcjbUmKv8YIADHJwMnGMnzOPKgypSlApSlApSlApSlApSlApSlApSlApSlAoaVi6ggg7g7H4UEUeYocavlMEqIjobExdiiiM/WyQfs37b1zvzdbDGTJ81mfwE9MJKIZNePm6X2PwPfFYQcqKkKQC4n0xMrWo8GLcIxZAAF8QA8PiydO3vrU/JcRSUdWYPJFLHI46fiaabru+krgHXnbtjb30HTHzPEWCNHMrGaaFBo1amh3Y5GyjAJ39K5uKc0g28jWhDS6BJbh1OmePqrHqXByVyQM/wlPnXRHyvGJ45+rKdE00wQ6NBaeMxyDZc4yS3fOT6bVoTkyEaQssw0R9GD5h6MPVSXQuVOd0QZbJwv20FmpSlApSlApSlApSlArTDaRoSUjRCfnaVC5+OO9bqUHBf2sOYpJMIInBTGFXWymIZHns+PtrOPh6Cd7jcsyRpvjCrGZCNO2RnWc1w83k+ytjOepBjHmevHt2qaoOG44YjyxSsXPTyUTPyes7ByvmwBOD5ZrupSgUpSgUpSgUpSgUpSgUpSgUpSgUpSgUpSg1XUmlHb0Vj5eQJ89qrnBuHXUtvBK3E7nLxRu2IrQDLICf+h9TU7xabRbzvjOmKRsZ05wpOM4OPjitXLyYtLUekEQ/FGtBHz2bxmJZOJXQMj9OPK2o1PpZ9IxD30qx+yuwcJk/Dbv8A4f8A9quHmqPM/Cfdek+Q+9Lr3j9NSfHOJrbW81ww1aFJVR3kfsiL/CZsKPeaDUnCXH35dH4mE/2dDwuXb7tue+T4bfcY7fRfb9lcVlPxTTqlhsCSAQqyzJpONwWKNq+zFdnCp7xnYXMFvEmnwNHM8zFs9irRrgY880HFxW2mgSORby5c9e2Uhhb6WR7mKNwcRA7qxGxFWKobmtsWwPpcWZ/4uGpmgUpVR4LxO5nMUJc60uLk3LKF2t455UhQ7EanAT0OAxoLdSq5wS+vWvLmO4hCwqMxOMAMdsDGfD4T6vkg7pstWOgUpVd4dc3twJnSW1iVZ7iJFNvJM2mKZ4gWfrKMnTnYedBYqZqEaz4h+GWo/wBTf/5Fb+heZ/vi2Ixv9zP39fp6CG/ZK4xBa2kbXLmNWubfSdDOMpKkpyFB+qrH34q0WtwsiJIudLKGXIKnSRkZB3G1V/mPlyS9gNvcS27JrR8ezv3RgwH03njB9xPaux7W/Pa7tR/qkh/8xQTNKgTYcR/D7YfCyb9M9ex8Pv8A61/Edj2tAN/X6WgnaVDcPnnW6a3mkSUdFZFIj6R1GR1IPiORjH4qmaBSlKBSlKBSlKBSlabu6SJGkldUQfOZjgDfA3+OKDdSoKbnHh6HS15Ap74LAHHwrwc52B7XUZ+Go/mFBPUqFXmuzPabPwSQ/mWtw5gtsZMuBkDxK67nYDcUEpStVtcLIoeNgynsR54OD+WttBx8YXNtcD1ikH/cNYcAP3Jan/Exf0FrpvFzHIPVWH4wa4+Wz9xWf+Yh/wCWtBHc33McT8NlmkWFFuyWZiFX+87ruTWu0ga+niupVeO2iIe0icFGll3+XljIyoAxoU+uogHGObmdbp5eHhra2dVvtSfKyOMC2uQpcdHCHfvvg4Hnmp5prvygtj8bmQf2FBJUqJNxfeVtaef31J9n3vWdlLeFwJobZEwcmOeSV8+WFaJR+Wg5ucBm3Rf3VzaKO/c3UOOwNTlQnN0eq3VckA3NmG0ko2Ddwg4YEFT7wQa2Ny3Ae5uj8bu7P9rQS9ctlw+OIzGNdJlkMsu5OqQqqFt+2yqPsqPTla2BDATZHY+03J/PJW+PgUK/N6w7Z+Xn8u316CTpUSeXoT3a5/3u6/N1K1NyranuJz8bq6P9pQSc99EjpG8iI756aswUvjvpB71Ecmn5K5Hpe3v9ZkP6ai+M/saWNzJA8nXCxljoEshDscYJZiWGMeRHeu7kSBY4bmOMYVLy7VRktgCZvMkk/bQWWlKxDj1HvoMqV5qHqK8MgAySAPj50GVKwWZSxUMpYdxkZHxHlWdBEf8AWPxtfzS//dS9QryD9s0Xz9lcn4dVMfpqaoFKUoFKUoFK57m9ijx1ZY485xrZUzjvjJ3rQeN2v4Tb/wC1T9dB31XP2QFzYOP8daf1yDtuN6k145anOLm3OO/yqfrqn80c22d1bz20EyvPHc2qtESFdtN7Bkr5OuN8gmgt/Hb5oY0dApJmgjOrJGmSZI27Eb4Y499SNV/nZ8W0f+lWY8vwqKs+KceZZvZbSH2mfGXy3ThtwR4TNLglc+SqGY4O1BOUquR8Hv3JafiTR/wLaCGNB5/OlV3J7jOQCANh5zXDbQxRhGllnOSS8hUscnP1QAB7gKDm5c+g/lZ/+fJUnVa5c4zbrC6yXECET3QIaRFIxcSjcE1ItzHZDvd2w/lY/wBdB3XkOuOSPUV1Ky5ABK6gRnB2OPfULZcNvooo4lurTCIqKfZZCSFAUZ+6O+1b25rsB3vbUfyqfrrBeb+Hk4F7bE+6VD+mg3rbXu2bm3Pr9zOM7f5/13qG5243c8Psprtp7U6MBVNtKdbMQFXaepz9v7T8Jg/nr+v31XOfOJWM9hcI0trMQoZFLJJ4wRjA9d/y0ExateSxpLHdWZV1DIfZZTlWAI++azNnfn78th8LRv0z1ph5m4ZCqxJd2cSoAqIskaqijsAoOwrMc48P8r23PwkBoMJ+DXcmhZr2NkEkUjKtsELdKVJQNRkOMlQO1WCoePmizb5tzEfgc1t/ugtf39Py49O+KCTpUG3OHDx3vbf3fKLXq822J7XcJ+DZoJulRK8yWh7Tofhk/orNeP2x7Sj+a36qCTqA5PXEVzuN729Jx5fdMgri5j/ZBsrF4BcOwWXX41UtoK4+cgGog57gHyrq5HnWS3mdDqVru8Kn1U3MhB/FigsVUniXC8XU9mEzDfNHM+wKqY9IulO2AHRY8ZyS0jnbFXalB89seEmXiHERH7JoW7tndXh1ylUhh+jkDYTDIPqncHceXZwzhWi6awaJTBDM19B4F0lZNRRAe2pZzK3uAT7bqBXtB895VgRL2FUVZ4yt1NBJpKXNqZJA00VyR4XDOxwdj4B3719CpSghFP8A/Ubf70XHr9M2f0VN1ED/AAiffaj8kp/XUvQKUpQKUpQc9zZRSYMkccmM6daq+M98ZG3lUBLxK2VnWKzEgWVINapCqGZm0lASc5UkZ289s4NT3EL1IY2kkOFGBnBbckAbAZ7kVF8ocMEVlCrxqrsTPKCoBE0jmVsj90C2PsoJQWEWQ3Si1DsdC5HwONqqPM3K9nbwTXENtEkr3Fs7yaQXybuEthjuo9wxV3qB54H3DL7mgP4p4zQR37JvEFis1IZOqJ7doUMixF3E6Bdz2UEgk+gNbuX+JWFrAsR4haSSHLzyNcRapZm3dzlvM9h5AAeVSXMvDfaYViDqhE1vLk7giKZJSMe8KR9tdumEfvQ/mig4xzRYfh1n/t4v/VXTY8Wt5iVgnhmIGWEciSED1OknFbVuYhsHjHwZazW4Q9nU/Bgf/wB50Ff5LtEa1LNHGWM9ySdKnJNxIe9WFYEHZVHwAFQ/JoPsxDDGJ7oL71FzLpPwIxU5QY6B6D8VNA9BWVKDEoPQU0D0H4qypQY6B6D8Ve6R6CvaUHmK9xSlB5pHoKYr2lAqv2/M6Ot1MqqbeFigkEikvKjlJF0fVAOMHJzvt2zLcRu+lGXCSSHYBY1MjEnYeEb4z3Pl3rj5a4c0NlbwTeJxGOtk68yt4n3JOfETvQY8Mlt76KC76KPjxQl1VzG3YlTvpPl5HatHJ30d2P47eflnY/pqcghVFCoAoAAAGwAAwPyVHQ8CiQyFWnXXI0rASyKNb7tgAjAzvj30EpSqtzDw1o40aK6u0zPaxn5XVhJLiONwNQJ3VjufdXevL3rd3x/lyPzCgmqVWuNcL6USslxd561upzPIfC88aMO/mpIqRbgUZ7yXX+9XA/8AHQSlKqnN1n7Nw+8nhmuY3jgkdGM80mllQ6TpZiDvv9lTH7TqQMy3Pr9PKPzNQan/AMIp77V/ySp+upio6z4NFHKZ16jSFBHqeWSXCBi2AHYgbnyqRoFKUoFKUoPMV7SlArTdWqSo0cqJIjDDK6h1YehU7Gt1KCtcTsOHRSQxvYwu0pcRhbZJMlF1MCQNvDk5O21ecP4TwqdS8dnZbOY3DW8SskoOCjKVyG93vFdPHLSZrqwlijEiRNM0mXCEF4yi4BG/c+f46r19yhPIzySKk4ne4e4hErQqrSR28cRWQLk6Fh3OAcyEj0oJqz4Vw4tP9w2sXRlETFoIFBYpG6lSM7ESKBnBz5V3jglkMn2a1GcKfko9yCQF7epO3vNVrivL13IJQIrd9dyWBdySsRsBbalJU6TrXcbnSTvk5rZwbhYN8ACSsUcMl54WAN+sZiQiTADkxli3fdYztncLlBCqKFRVRRnAUBQMnJ2HvrZSlApSlApSlApSlApSlApSlApSlApSlBEc0fQR/wCk2X9cgqXqC5zk02oP8Ys/63DU7QRPM7gQAn9/tv6zFUtVe55/vWPy+6rMH4e1RZqw0EFz0ueGX4/i8v8AQNTi9hURziM8Ovh/F5v6BqWjOw+AoMqUpQKUpQKUpQKUpQKUpQKUpQKUpQKUpQKUpQKUpQKUpQKUpQKUpQKUpQKUpQR3MPDfabaSEEKxw0TEZCTIweNiPMB1UkeYzWXA+I+0QrJjS4ykyeccyHTIh+DA/EYPnXfVT0StfXQsXWNW0C9kZdapOqjHSGfFKU0K2dlAXudqCR5ui1W6A9vabTPw9piqbqDXliEkmZ7m4JOrMk8pAOcgrGrBFwdxgDBAIxivTwNostaXE0Z76ZZJLqI4HYrIxZR/kkd870Gjmoi40cNAz7QGNwd8JaLgSHI7FiRGPPxE/VqwgVWuUnLS3r3ChLsyBZ0zqEcC5FuI3IGqIrl84HieTsQamJ+KxpcRWraupKrvGNJIKpjWdXYYyv8AOFB3UrxjtXNw2/SeJJoslGB05BU7Eg5U7g5BoOqlari5SNdUjKgyASxAGWIAGT6kgUgnDatmXSxU6lK5I8xnuD60G2leV7QKUpQKUpQKUpQKUpQKUpQKUpQKUpQKUpQKUpQKUpQKUpQKUpQRvMd80FpcTIAWSNjGCcAyYwgz/lYrZwXh628EUK76VGonGXc7uzEd2LZJPqa4+c4S1hcaQWKKJlULrLmF1mCBfMtox9tStrcLIiSIQyuoZSNwVYZBoNtKUoK/zMejLZ3gIXTKsE22dcFwwTTtvkS9JgfLDetR3OXC7ie5iMMLuos7+FnDxoFkuEiEYwXDfUO+NsipLm99SW1uMlprmELjfCxt13Y79gsZ39SPWp+goMPArlemfZ2aNXtpJoTKmJ2WCRJDuxBKyGN98aun7q0cN5dvYgo6RwwtfCJUAi6F7LK2TnctE6jbOdJBq7cS4vDAQJWKkqzABXclUxqOFB2GRWteP25BIkzhxHgKxYuydQALjJyni28qCstwGcxMGtleVZ0Z3MoPtUaXaTjCnb5uoYbGk5A2OawTgFyrSF4OtF7XdSdLWnijmjUROupgvhOoYOCM5FWFOabUliHOgRQSrJgmORZ3dIlRh85iy4xjzHvxui5itmaNFkJdy4VQj6vA4jfUuMrpYgHOMZoKracs3CNbyNEXmT2APN1c+GJNFwRqbJJGQTjLbZ7bX6vaUClKUClKUClKUClKUClKUClKUClKUClKUClKUClKUClKUClKUHhFV22f9r8xOCbTJMDqu1qpx8lIB2jBJ0uBhVwpxpybHSg02t3HKiyRSJIjDKsjB1YeoYbEVzcS4vDAB1ZAC20aDxySt+5SMeJz7gKwfgNqWL+zxBjnJChScjBzj3VusOFQQ/Qwxxd91UA799+9Bw8KspXna8uVCNpMdtGDq6EJYElm7GR8KTjZQAozgkzVKUETxjgxnkjkEnT0RzIPAHOZU0ask7Y7486jzyn8slwsxEqtEykoChKQNA2pM5IZWz84EEDfyNmpQVU8mDSqrcONK2+klEz17eeS4SQgYGCzsCgAGO2K6uGcs9K6F11dTFbjqjRpDvPJC5I8R0hREqgb+uasFKBSlKBSlKBSlKBSlKCtc28xPaS2agRBJ5GjZ5Cw6WlGkLYB8QwpGMj41hac16Wm9s6UCxxRy5y+WWSR0Q6WUfOATC9wWII2rp5i5da6ns5esEW3kMgQx6+oxUoQzahgaSR2qJ5q5TkkW4aBlIkghtki0hRHGkqsXDlvEQurC+HO2470Fp4ZxKK4RnibUFdo2yCpWRDpdSD5g7VD3XNKe3ewoUUqYxK8mdPUkUskMYHzpSo1bkYBB37Vq5X4RdJoM8giCSznRGioLlZNLCSZdTaZA+vsxzkE+le8S5KimuvaDIyq08FxLHgEPPbxtHGwb6o0kZG+dAxjfIbObeYJLM27BYdEk8MJ1sVYmV9LEHsoQeLfOc+WN/YuZC/E1skj+S6EshlP15I5EQqoH1QSQSe5Bx2yfLjld5U6E97NPAVCzI6RFpCshkB6gXK5HhO24Axpry25JtY+ILxCJOm4SUFR81nlbU0h9+7D/tGgsoqv8R460E88c3TWMWr3FuwDFm6X0wYZ305jO3cP5Y3sFRvGeCRXXQ62r5GZJkwcAunYMPrL7j6Cg4YOZo1j+6NSSLGXlCxuVyrKkujuWCMwBIz3r215jRpJgS2FEJVOjKsqmUPjWGHnpPwwc1om5PR5pZnuJj1FmQgCIHpzGM6dZUsdJQY32G2K2cQ5VWWaWbryoZDb6gBGU0QCQBSrKQwbqMTqzuF9KDTDzfF13VyeiyWjW8ixuR906wvUfsoJC4Jx3rGx5zhWGNrySOKR5JlCrnARbl4EYg7jOFB9+a2W3JsaIsZmlkTp28cisE+UW2ZmiyyqMbsM476R23zss+U0ibVHcXCMdYcr0gXR5nn0HKbAM74IwcMd6DfzHxWSE2sUIXXcSmJGYalQiKSTJAIJ+bjA8snyrmXnS0Eet5CMBtR0OAemwSUqDuVVyFJ8iRUrxHhSTPbSMzqYJerHpxgt05IiGyDkaXbtg5xvUfHywq9BknmSSLrKHXpgtHNIJJEZdOnuFwQARig2XHNFujMpMhwzoWWN2QyRxGZ1DgYJCA/apHcYrC45ttEXWZMg9Lp7Y6vVjMqaCcA5QE/ZXDf8rt7RAY3d4DcTTXEbuulOrA8TFPDqJLOTgttqbHkK3W3JqIBpurvUogEbkwa06MbxDHyWDqRiG1A52xig3/3XW2uNR1SHEDB+mRGFnLCIljjGWUj3HvWQ5pg0h2EyRs0SxyGNunJ1n6cbKw+qXwN8dwexzWFzyrHIxd57liTbH50f3vI0i76M+JmOrfzwMVz3fLbx2z29tJJIHUxIJpdKWsTEnVGETLFPDpDHPhA1CgmBxeLoPc5IjXXkkEZ0MVOkfWyRtjvkY71xzczRrlTFcawJGZOn4hHFo1vjOCvjXsTnO3Y12XXBoZLU2bKekUCYBwQFxpIP7oEA59RXFLyyraGa4uWkCSRtKWj1vHIFDKyhNAHhU+FRgrnzOQx/urgMkaKJGEjKsMgAMUjPD1o9L5+sucHHceVabbnCIxQySRSx67dblx4WEUbA7s2rfcYAG5LDb06IeVYUZCrShY5IpIUyuiPpQmBVUac6NB7Enf0rC25RgWPpM00yezC1xIyn5JWLA5VQde48X8EfGg1XPMbGS3jRHiY3SQ3CyqM9N4JZFZWViCCVXcE9iDv2stQq8txa1kZpZJFkjk1sV1MYkZEU4AGgBmOABuxPnU1QKUpQKUpQKUpQKUpQKUpQKUpQKGlKDwV7SlApSlApSlApSlApSlApSlB5XtKUCvKUoPaUpQKUpQKUpQKUpQKUpQKUpQf/2Q=="/>
          <p:cNvSpPr>
            <a:spLocks noChangeAspect="1" noChangeArrowheads="1"/>
          </p:cNvSpPr>
          <p:nvPr/>
        </p:nvSpPr>
        <p:spPr bwMode="auto">
          <a:xfrm>
            <a:off x="117475" y="-21500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AutoShape 2" descr="data:image/jpeg;base64,/9j/4AAQSkZJRgABAQAAAQABAAD/2wCEAAkGBxISEBAQEBEREBUXFRUVEBgVFRUQFRISFxUWFhYYGBMYHiggGRolGxsYITMhJSkrMS8uGB8zODMtQyg5Ly8BCgoKBQUFDgUFDisZExkrKysrKysrKysrKysrKysrKysrKysrKysrKysrKysrKysrKysrKysrKysrKysrKysrK//AABEIALIBGwMBIgACEQEDEQH/xAAbAAEAAgMBAQAAAAAAAAAAAAAABQYCAwQBB//EAFUQAAIBAwIEAwMFCAsMCwEAAAECAwAEERIhBQYTMSJBURRhcSMyM0KBJERUkaGxwdEHFVJTYmSDkrK0wxY0NWNyc3SEk5Sks0NFgqLCxNLT1OHwJf/EABQBAQAAAAAAAAAAAAAAAAAAAAD/xAAUEQEAAAAAAAAAAAAAAAAAAAAA/9oADAMBAAIRAxEAPwD7jSlKBSlKBSlKBSlKBSlKBSlKDj4xxBbeCW4dWZY1LuFwW0jckAn0qOi5jHViie3niMjhULhNBzHJLnUrHyjOV7jK7b11cy2bzWdzBFp1yROiayVXLKRkkAkD7K4Ljl7Elo0Coumfq3GWbcezSQZUYOTuu23Y0E911wDqXBxjcb57fjrJHBGQQR7t+2xqh8N5TuUh6Dpb6Ta29oWEjEqIZJSZVBX52h8qM5BAyfOrXy3bSxW0cMwQOgKZQ5DgEhXOwwzDDEY7k0EnSlKBSlKBSlKBSlKBXmaGvmUvEGtOvJHouZRbXl1aTKxJmClSyXUAwcqWVQQey48Pag+nUqltzNI8rJHPbIvtfQDkBwENl7QN+oAW1/k8vOueLmm5KxuGgcmOxdYgjK05uJpIpChLZC6VDjw7Y3ON6C9g17Xz7g/Ep4LSIw9ORHuL+AbO7LcNdTezsWGQI8gqcjbUmKv8YIADHJwMnGMnzOPKgypSlApSlApSlApSlApSlApSlApSlApSlAoaVi6ggg7g7H4UEUeYocavlMEqIjobExdiiiM/WyQfs37b1zvzdbDGTJ81mfwE9MJKIZNePm6X2PwPfFYQcqKkKQC4n0xMrWo8GLcIxZAAF8QA8PiydO3vrU/JcRSUdWYPJFLHI46fiaabru+krgHXnbtjb30HTHzPEWCNHMrGaaFBo1amh3Y5GyjAJ39K5uKc0g28jWhDS6BJbh1OmePqrHqXByVyQM/wlPnXRHyvGJ45+rKdE00wQ6NBaeMxyDZc4yS3fOT6bVoTkyEaQssw0R9GD5h6MPVSXQuVOd0QZbJwv20FmpSlApSlApSlApSlArTDaRoSUjRCfnaVC5+OO9bqUHBf2sOYpJMIInBTGFXWymIZHns+PtrOPh6Cd7jcsyRpvjCrGZCNO2RnWc1w83k+ytjOepBjHmevHt2qaoOG44YjyxSsXPTyUTPyes7ByvmwBOD5ZrupSgUpSgUpSgUpSgUpSgUpSgUpSgUpSgUpSg1XUmlHb0Vj5eQJ89qrnBuHXUtvBK3E7nLxRu2IrQDLICf+h9TU7xabRbzvjOmKRsZ05wpOM4OPjitXLyYtLUekEQ/FGtBHz2bxmJZOJXQMj9OPK2o1PpZ9IxD30qx+yuwcJk/Dbv8A4f8A9quHmqPM/Cfdek+Q+9Lr3j9NSfHOJrbW81ww1aFJVR3kfsiL/CZsKPeaDUnCXH35dH4mE/2dDwuXb7tue+T4bfcY7fRfb9lcVlPxTTqlhsCSAQqyzJpONwWKNq+zFdnCp7xnYXMFvEmnwNHM8zFs9irRrgY880HFxW2mgSORby5c9e2Uhhb6WR7mKNwcRA7qxGxFWKobmtsWwPpcWZ/4uGpmgUpVR4LxO5nMUJc60uLk3LKF2t455UhQ7EanAT0OAxoLdSq5wS+vWvLmO4hCwqMxOMAMdsDGfD4T6vkg7pstWOgUpVd4dc3twJnSW1iVZ7iJFNvJM2mKZ4gWfrKMnTnYedBYqZqEaz4h+GWo/wBTf/5Fb+heZ/vi2Ixv9zP39fp6CG/ZK4xBa2kbXLmNWubfSdDOMpKkpyFB+qrH34q0WtwsiJIudLKGXIKnSRkZB3G1V/mPlyS9gNvcS27JrR8ezv3RgwH03njB9xPaux7W/Pa7tR/qkh/8xQTNKgTYcR/D7YfCyb9M9ex8Pv8A61/Edj2tAN/X6WgnaVDcPnnW6a3mkSUdFZFIj6R1GR1IPiORjH4qmaBSlKBSlKBSlKBSlabu6SJGkldUQfOZjgDfA3+OKDdSoKbnHh6HS15Ap74LAHHwrwc52B7XUZ+Go/mFBPUqFXmuzPabPwSQ/mWtw5gtsZMuBkDxK67nYDcUEpStVtcLIoeNgynsR54OD+WttBx8YXNtcD1ikH/cNYcAP3Jan/Exf0FrpvFzHIPVWH4wa4+Wz9xWf+Yh/wCWtBHc33McT8NlmkWFFuyWZiFX+87ruTWu0ga+niupVeO2iIe0icFGll3+XljIyoAxoU+uogHGObmdbp5eHhra2dVvtSfKyOMC2uQpcdHCHfvvg4Hnmp5prvygtj8bmQf2FBJUqJNxfeVtaef31J9n3vWdlLeFwJobZEwcmOeSV8+WFaJR+Wg5ucBm3Rf3VzaKO/c3UOOwNTlQnN0eq3VckA3NmG0ko2Ddwg4YEFT7wQa2Ny3Ae5uj8bu7P9rQS9ctlw+OIzGNdJlkMsu5OqQqqFt+2yqPsqPTla2BDATZHY+03J/PJW+PgUK/N6w7Z+Xn8u316CTpUSeXoT3a5/3u6/N1K1NyranuJz8bq6P9pQSc99EjpG8iI756aswUvjvpB71Ecmn5K5Hpe3v9ZkP6ai+M/saWNzJA8nXCxljoEshDscYJZiWGMeRHeu7kSBY4bmOMYVLy7VRktgCZvMkk/bQWWlKxDj1HvoMqV5qHqK8MgAySAPj50GVKwWZSxUMpYdxkZHxHlWdBEf8AWPxtfzS//dS9QryD9s0Xz9lcn4dVMfpqaoFKUoFKUoFK57m9ijx1ZY485xrZUzjvjJ3rQeN2v4Tb/wC1T9dB31XP2QFzYOP8daf1yDtuN6k145anOLm3OO/yqfrqn80c22d1bz20EyvPHc2qtESFdtN7Bkr5OuN8gmgt/Hb5oY0dApJmgjOrJGmSZI27Eb4Y499SNV/nZ8W0f+lWY8vwqKs+KceZZvZbSH2mfGXy3ThtwR4TNLglc+SqGY4O1BOUquR8Hv3JafiTR/wLaCGNB5/OlV3J7jOQCANh5zXDbQxRhGllnOSS8hUscnP1QAB7gKDm5c+g/lZ/+fJUnVa5c4zbrC6yXECET3QIaRFIxcSjcE1ItzHZDvd2w/lY/wBdB3XkOuOSPUV1Ky5ABK6gRnB2OPfULZcNvooo4lurTCIqKfZZCSFAUZ+6O+1b25rsB3vbUfyqfrrBeb+Hk4F7bE+6VD+mg3rbXu2bm3Pr9zOM7f5/13qG5243c8Psprtp7U6MBVNtKdbMQFXaepz9v7T8Jg/nr+v31XOfOJWM9hcI0trMQoZFLJJ4wRjA9d/y0ExateSxpLHdWZV1DIfZZTlWAI++azNnfn78th8LRv0z1ph5m4ZCqxJd2cSoAqIskaqijsAoOwrMc48P8r23PwkBoMJ+DXcmhZr2NkEkUjKtsELdKVJQNRkOMlQO1WCoePmizb5tzEfgc1t/ugtf39Py49O+KCTpUG3OHDx3vbf3fKLXq822J7XcJ+DZoJulRK8yWh7Tofhk/orNeP2x7Sj+a36qCTqA5PXEVzuN729Jx5fdMgri5j/ZBsrF4BcOwWXX41UtoK4+cgGog57gHyrq5HnWS3mdDqVru8Kn1U3MhB/FigsVUniXC8XU9mEzDfNHM+wKqY9IulO2AHRY8ZyS0jnbFXalB89seEmXiHERH7JoW7tndXh1ylUhh+jkDYTDIPqncHceXZwzhWi6awaJTBDM19B4F0lZNRRAe2pZzK3uAT7bqBXtB895VgRL2FUVZ4yt1NBJpKXNqZJA00VyR4XDOxwdj4B3719CpSghFP8A/Ubf70XHr9M2f0VN1ED/AAiffaj8kp/XUvQKUpQKUpQc9zZRSYMkccmM6daq+M98ZG3lUBLxK2VnWKzEgWVINapCqGZm0lASc5UkZ289s4NT3EL1IY2kkOFGBnBbckAbAZ7kVF8ocMEVlCrxqrsTPKCoBE0jmVsj90C2PsoJQWEWQ3Si1DsdC5HwONqqPM3K9nbwTXENtEkr3Fs7yaQXybuEthjuo9wxV3qB54H3DL7mgP4p4zQR37JvEFis1IZOqJ7doUMixF3E6Bdz2UEgk+gNbuX+JWFrAsR4haSSHLzyNcRapZm3dzlvM9h5AAeVSXMvDfaYViDqhE1vLk7giKZJSMe8KR9tdumEfvQ/mig4xzRYfh1n/t4v/VXTY8Wt5iVgnhmIGWEciSED1OknFbVuYhsHjHwZazW4Q9nU/Bgf/wB50Ff5LtEa1LNHGWM9ySdKnJNxIe9WFYEHZVHwAFQ/JoPsxDDGJ7oL71FzLpPwIxU5QY6B6D8VNA9BWVKDEoPQU0D0H4qypQY6B6D8Ve6R6CvaUHmK9xSlB5pHoKYr2lAqv2/M6Ot1MqqbeFigkEikvKjlJF0fVAOMHJzvt2zLcRu+lGXCSSHYBY1MjEnYeEb4z3Pl3rj5a4c0NlbwTeJxGOtk68yt4n3JOfETvQY8Mlt76KC76KPjxQl1VzG3YlTvpPl5HatHJ30d2P47eflnY/pqcghVFCoAoAAAGwAAwPyVHQ8CiQyFWnXXI0rASyKNb7tgAjAzvj30EpSqtzDw1o40aK6u0zPaxn5XVhJLiONwNQJ3VjufdXevL3rd3x/lyPzCgmqVWuNcL6USslxd561upzPIfC88aMO/mpIqRbgUZ7yXX+9XA/8AHQSlKqnN1n7Nw+8nhmuY3jgkdGM80mllQ6TpZiDvv9lTH7TqQMy3Pr9PKPzNQan/AMIp77V/ySp+upio6z4NFHKZ16jSFBHqeWSXCBi2AHYgbnyqRoFKUoFKUoPMV7SlArTdWqSo0cqJIjDDK6h1YehU7Gt1KCtcTsOHRSQxvYwu0pcRhbZJMlF1MCQNvDk5O21ecP4TwqdS8dnZbOY3DW8SskoOCjKVyG93vFdPHLSZrqwlijEiRNM0mXCEF4yi4BG/c+f46r19yhPIzySKk4ne4e4hErQqrSR28cRWQLk6Fh3OAcyEj0oJqz4Vw4tP9w2sXRlETFoIFBYpG6lSM7ESKBnBz5V3jglkMn2a1GcKfko9yCQF7epO3vNVrivL13IJQIrd9dyWBdySsRsBbalJU6TrXcbnSTvk5rZwbhYN8ACSsUcMl54WAN+sZiQiTADkxli3fdYztncLlBCqKFRVRRnAUBQMnJ2HvrZSlApSlApSlApSlApSlApSlApSlApSlBEc0fQR/wCk2X9cgqXqC5zk02oP8Ys/63DU7QRPM7gQAn9/tv6zFUtVe55/vWPy+6rMH4e1RZqw0EFz0ueGX4/i8v8AQNTi9hURziM8Ovh/F5v6BqWjOw+AoMqUpQKUpQKUpQKUpQKUpQKUpQKUpQKUpQKUpQKUpQKUpQKUpQKUpQKUpQKUpQR3MPDfabaSEEKxw0TEZCTIweNiPMB1UkeYzWXA+I+0QrJjS4ykyeccyHTIh+DA/EYPnXfVT0StfXQsXWNW0C9kZdapOqjHSGfFKU0K2dlAXudqCR5ui1W6A9vabTPw9piqbqDXliEkmZ7m4JOrMk8pAOcgrGrBFwdxgDBAIxivTwNostaXE0Z76ZZJLqI4HYrIxZR/kkd870Gjmoi40cNAz7QGNwd8JaLgSHI7FiRGPPxE/VqwgVWuUnLS3r3ChLsyBZ0zqEcC5FuI3IGqIrl84HieTsQamJ+KxpcRWraupKrvGNJIKpjWdXYYyv8AOFB3UrxjtXNw2/SeJJoslGB05BU7Eg5U7g5BoOqlari5SNdUjKgyASxAGWIAGT6kgUgnDatmXSxU6lK5I8xnuD60G2leV7QKUpQKUpQKUpQKUpQKUpQKUpQKUpQKUpQKUpQKUpQKUpQKUpQRvMd80FpcTIAWSNjGCcAyYwgz/lYrZwXh628EUK76VGonGXc7uzEd2LZJPqa4+c4S1hcaQWKKJlULrLmF1mCBfMtox9tStrcLIiSIQyuoZSNwVYZBoNtKUoK/zMejLZ3gIXTKsE22dcFwwTTtvkS9JgfLDetR3OXC7ie5iMMLuos7+FnDxoFkuEiEYwXDfUO+NsipLm99SW1uMlprmELjfCxt13Y79gsZ39SPWp+goMPArlemfZ2aNXtpJoTKmJ2WCRJDuxBKyGN98aun7q0cN5dvYgo6RwwtfCJUAi6F7LK2TnctE6jbOdJBq7cS4vDAQJWKkqzABXclUxqOFB2GRWteP25BIkzhxHgKxYuydQALjJyni28qCstwGcxMGtleVZ0Z3MoPtUaXaTjCnb5uoYbGk5A2OawTgFyrSF4OtF7XdSdLWnijmjUROupgvhOoYOCM5FWFOabUliHOgRQSrJgmORZ3dIlRh85iy4xjzHvxui5itmaNFkJdy4VQj6vA4jfUuMrpYgHOMZoKracs3CNbyNEXmT2APN1c+GJNFwRqbJJGQTjLbZ7bX6vaUClKUClKUClKUClKUClKUClKUClKUClKUClKUClKUClKUClKUHhFV22f9r8xOCbTJMDqu1qpx8lIB2jBJ0uBhVwpxpybHSg02t3HKiyRSJIjDKsjB1YeoYbEVzcS4vDAB1ZAC20aDxySt+5SMeJz7gKwfgNqWL+zxBjnJChScjBzj3VusOFQQ/Qwxxd91UA799+9Bw8KspXna8uVCNpMdtGDq6EJYElm7GR8KTjZQAozgkzVKUETxjgxnkjkEnT0RzIPAHOZU0ask7Y7486jzyn8slwsxEqtEykoChKQNA2pM5IZWz84EEDfyNmpQVU8mDSqrcONK2+klEz17eeS4SQgYGCzsCgAGO2K6uGcs9K6F11dTFbjqjRpDvPJC5I8R0hREqgb+uasFKBSlKBSlKBSlKBSlKCtc28xPaS2agRBJ5GjZ5Cw6WlGkLYB8QwpGMj41hac16Wm9s6UCxxRy5y+WWSR0Q6WUfOATC9wWII2rp5i5da6ns5esEW3kMgQx6+oxUoQzahgaSR2qJ5q5TkkW4aBlIkghtki0hRHGkqsXDlvEQurC+HO2470Fp4ZxKK4RnibUFdo2yCpWRDpdSD5g7VD3XNKe3ewoUUqYxK8mdPUkUskMYHzpSo1bkYBB37Vq5X4RdJoM8giCSznRGioLlZNLCSZdTaZA+vsxzkE+le8S5KimuvaDIyq08FxLHgEPPbxtHGwb6o0kZG+dAxjfIbObeYJLM27BYdEk8MJ1sVYmV9LEHsoQeLfOc+WN/YuZC/E1skj+S6EshlP15I5EQqoH1QSQSe5Bx2yfLjld5U6E97NPAVCzI6RFpCshkB6gXK5HhO24Axpry25JtY+ILxCJOm4SUFR81nlbU0h9+7D/tGgsoqv8R460E88c3TWMWr3FuwDFm6X0wYZ305jO3cP5Y3sFRvGeCRXXQ62r5GZJkwcAunYMPrL7j6Cg4YOZo1j+6NSSLGXlCxuVyrKkujuWCMwBIz3r215jRpJgS2FEJVOjKsqmUPjWGHnpPwwc1om5PR5pZnuJj1FmQgCIHpzGM6dZUsdJQY32G2K2cQ5VWWaWbryoZDb6gBGU0QCQBSrKQwbqMTqzuF9KDTDzfF13VyeiyWjW8ixuR906wvUfsoJC4Jx3rGx5zhWGNrySOKR5JlCrnARbl4EYg7jOFB9+a2W3JsaIsZmlkTp28cisE+UW2ZmiyyqMbsM476R23zss+U0ibVHcXCMdYcr0gXR5nn0HKbAM74IwcMd6DfzHxWSE2sUIXXcSmJGYalQiKSTJAIJ+bjA8snyrmXnS0Eet5CMBtR0OAemwSUqDuVVyFJ8iRUrxHhSTPbSMzqYJerHpxgt05IiGyDkaXbtg5xvUfHywq9BknmSSLrKHXpgtHNIJJEZdOnuFwQARig2XHNFujMpMhwzoWWN2QyRxGZ1DgYJCA/apHcYrC45ttEXWZMg9Lp7Y6vVjMqaCcA5QE/ZXDf8rt7RAY3d4DcTTXEbuulOrA8TFPDqJLOTgttqbHkK3W3JqIBpurvUogEbkwa06MbxDHyWDqRiG1A52xig3/3XW2uNR1SHEDB+mRGFnLCIljjGWUj3HvWQ5pg0h2EyRs0SxyGNunJ1n6cbKw+qXwN8dwexzWFzyrHIxd57liTbH50f3vI0i76M+JmOrfzwMVz3fLbx2z29tJJIHUxIJpdKWsTEnVGETLFPDpDHPhA1CgmBxeLoPc5IjXXkkEZ0MVOkfWyRtjvkY71xzczRrlTFcawJGZOn4hHFo1vjOCvjXsTnO3Y12XXBoZLU2bKekUCYBwQFxpIP7oEA59RXFLyyraGa4uWkCSRtKWj1vHIFDKyhNAHhU+FRgrnzOQx/urgMkaKJGEjKsMgAMUjPD1o9L5+sucHHceVabbnCIxQySRSx67dblx4WEUbA7s2rfcYAG5LDb06IeVYUZCrShY5IpIUyuiPpQmBVUac6NB7Enf0rC25RgWPpM00yezC1xIyn5JWLA5VQde48X8EfGg1XPMbGS3jRHiY3SQ3CyqM9N4JZFZWViCCVXcE9iDv2stQq8txa1kZpZJFkjk1sV1MYkZEU4AGgBmOABuxPnU1QKUpQKUpQKUpQKUpQKUpQKUpQKGlKDwV7SlApSlApSlApSlApSlApSlB5XtKUCvKUoPaUpQKUpQKUpQKUpQKUpQKUpQf/2Q=="/>
          <p:cNvSpPr>
            <a:spLocks noChangeAspect="1" noChangeArrowheads="1"/>
          </p:cNvSpPr>
          <p:nvPr/>
        </p:nvSpPr>
        <p:spPr bwMode="auto">
          <a:xfrm>
            <a:off x="269875" y="-6260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p:cNvSpPr/>
          <p:nvPr/>
        </p:nvSpPr>
        <p:spPr>
          <a:xfrm>
            <a:off x="533083" y="1706671"/>
            <a:ext cx="1782570" cy="1143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ELECTRICAL</a:t>
            </a:r>
          </a:p>
          <a:p>
            <a:pPr algn="ctr"/>
            <a:r>
              <a:rPr lang="en-US" dirty="0"/>
              <a:t>POWER INPUT</a:t>
            </a:r>
            <a:endParaRPr lang="en-IN" dirty="0"/>
          </a:p>
        </p:txBody>
      </p:sp>
      <p:sp>
        <p:nvSpPr>
          <p:cNvPr id="12" name="Rectangle 11"/>
          <p:cNvSpPr/>
          <p:nvPr/>
        </p:nvSpPr>
        <p:spPr>
          <a:xfrm>
            <a:off x="3310090" y="1688144"/>
            <a:ext cx="180340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POWER ELECTRONIC CONVERTER </a:t>
            </a:r>
            <a:endParaRPr lang="en-IN" dirty="0"/>
          </a:p>
        </p:txBody>
      </p:sp>
      <p:sp>
        <p:nvSpPr>
          <p:cNvPr id="14" name="Oval 13"/>
          <p:cNvSpPr/>
          <p:nvPr/>
        </p:nvSpPr>
        <p:spPr>
          <a:xfrm>
            <a:off x="6317673" y="1454543"/>
            <a:ext cx="1410016" cy="1356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MOTOR</a:t>
            </a:r>
            <a:endParaRPr lang="en-IN" dirty="0"/>
          </a:p>
        </p:txBody>
      </p:sp>
      <p:sp>
        <p:nvSpPr>
          <p:cNvPr id="16" name="Oval 15"/>
          <p:cNvSpPr/>
          <p:nvPr/>
        </p:nvSpPr>
        <p:spPr>
          <a:xfrm>
            <a:off x="8618326" y="1630098"/>
            <a:ext cx="1164925" cy="1066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LOAD</a:t>
            </a:r>
            <a:endParaRPr lang="en-IN" dirty="0"/>
          </a:p>
        </p:txBody>
      </p:sp>
      <p:sp>
        <p:nvSpPr>
          <p:cNvPr id="17" name="Right Arrow 16"/>
          <p:cNvSpPr/>
          <p:nvPr/>
        </p:nvSpPr>
        <p:spPr>
          <a:xfrm>
            <a:off x="2359449" y="2109962"/>
            <a:ext cx="914400" cy="266700"/>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solidFill>
                <a:schemeClr val="tx1"/>
              </a:solidFill>
            </a:endParaRPr>
          </a:p>
        </p:txBody>
      </p:sp>
      <p:sp>
        <p:nvSpPr>
          <p:cNvPr id="18" name="Right Arrow 17"/>
          <p:cNvSpPr/>
          <p:nvPr/>
        </p:nvSpPr>
        <p:spPr>
          <a:xfrm>
            <a:off x="5149163" y="2021003"/>
            <a:ext cx="1168861" cy="321924"/>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19" name="Right Arrow 18"/>
          <p:cNvSpPr/>
          <p:nvPr/>
        </p:nvSpPr>
        <p:spPr>
          <a:xfrm>
            <a:off x="7727689" y="2047078"/>
            <a:ext cx="914400" cy="266700"/>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0" name="Bent Arrow 19"/>
          <p:cNvSpPr/>
          <p:nvPr/>
        </p:nvSpPr>
        <p:spPr>
          <a:xfrm rot="10800000">
            <a:off x="5016069" y="2278171"/>
            <a:ext cx="687887" cy="1828800"/>
          </a:xfrm>
          <a:prstGeom prst="ben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r"/>
            <a:endParaRPr lang="en-IN" dirty="0">
              <a:solidFill>
                <a:schemeClr val="tx1"/>
              </a:solidFill>
            </a:endParaRPr>
          </a:p>
        </p:txBody>
      </p:sp>
      <p:sp>
        <p:nvSpPr>
          <p:cNvPr id="21" name="Rectangle 20"/>
          <p:cNvSpPr/>
          <p:nvPr/>
        </p:nvSpPr>
        <p:spPr>
          <a:xfrm>
            <a:off x="3238417" y="3619055"/>
            <a:ext cx="1794352" cy="5524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CONTROLLER</a:t>
            </a:r>
            <a:endParaRPr lang="en-IN" dirty="0"/>
          </a:p>
        </p:txBody>
      </p:sp>
      <p:sp>
        <p:nvSpPr>
          <p:cNvPr id="22" name="Up Arrow 21"/>
          <p:cNvSpPr/>
          <p:nvPr/>
        </p:nvSpPr>
        <p:spPr>
          <a:xfrm>
            <a:off x="4019202" y="2754944"/>
            <a:ext cx="406400" cy="826456"/>
          </a:xfrm>
          <a:prstGeom prst="up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23" name="Rectangle 22"/>
          <p:cNvSpPr/>
          <p:nvPr/>
        </p:nvSpPr>
        <p:spPr>
          <a:xfrm rot="16200000">
            <a:off x="4650998" y="2879322"/>
            <a:ext cx="142859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FEEDBACK</a:t>
            </a:r>
            <a:endParaRPr lang="en-IN" dirty="0">
              <a:latin typeface="Times New Roman" panose="02020603050405020304" pitchFamily="18" charset="0"/>
              <a:cs typeface="Times New Roman" panose="02020603050405020304" pitchFamily="18" charset="0"/>
            </a:endParaRPr>
          </a:p>
        </p:txBody>
      </p:sp>
      <p:cxnSp>
        <p:nvCxnSpPr>
          <p:cNvPr id="24" name="Straight Connector 23"/>
          <p:cNvCxnSpPr/>
          <p:nvPr/>
        </p:nvCxnSpPr>
        <p:spPr>
          <a:xfrm>
            <a:off x="2635194" y="1066800"/>
            <a:ext cx="7467600" cy="0"/>
          </a:xfrm>
          <a:prstGeom prst="line">
            <a:avLst/>
          </a:prstGeom>
          <a:ln>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635194" y="4591929"/>
            <a:ext cx="7467600" cy="0"/>
          </a:xfrm>
          <a:prstGeom prst="line">
            <a:avLst/>
          </a:prstGeom>
          <a:ln>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635194" y="1066800"/>
            <a:ext cx="0" cy="3505200"/>
          </a:xfrm>
          <a:prstGeom prst="line">
            <a:avLst/>
          </a:prstGeom>
          <a:ln>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0102794" y="1066800"/>
            <a:ext cx="0" cy="3525129"/>
          </a:xfrm>
          <a:prstGeom prst="line">
            <a:avLst/>
          </a:prstGeom>
          <a:ln>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738747" y="4012397"/>
            <a:ext cx="234974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ELECTRICAL DRIVE</a:t>
            </a:r>
            <a:endParaRPr lang="en-IN" dirty="0"/>
          </a:p>
        </p:txBody>
      </p:sp>
      <p:cxnSp>
        <p:nvCxnSpPr>
          <p:cNvPr id="29" name="Straight Connector 28"/>
          <p:cNvCxnSpPr/>
          <p:nvPr/>
        </p:nvCxnSpPr>
        <p:spPr>
          <a:xfrm flipH="1" flipV="1">
            <a:off x="5866228" y="1364566"/>
            <a:ext cx="1172" cy="7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866228" y="1384103"/>
            <a:ext cx="0" cy="18393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866228" y="1364566"/>
            <a:ext cx="3963572" cy="7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9829800" y="1384103"/>
            <a:ext cx="0" cy="1819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866228" y="3203869"/>
            <a:ext cx="3963572"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6629067" y="2782372"/>
            <a:ext cx="2536656" cy="338554"/>
          </a:xfrm>
          <a:prstGeom prst="rect">
            <a:avLst/>
          </a:prstGeom>
        </p:spPr>
        <p:txBody>
          <a:bodyPr wrap="none">
            <a:spAutoFit/>
          </a:bodyPr>
          <a:lstStyle/>
          <a:p>
            <a:r>
              <a:rPr lang="en-US" sz="1600" dirty="0">
                <a:latin typeface="Times New Roman" panose="02020603050405020304" pitchFamily="18" charset="0"/>
                <a:cs typeface="Times New Roman" panose="02020603050405020304" pitchFamily="18" charset="0"/>
              </a:rPr>
              <a:t>  ELECTRICAL MACHINE</a:t>
            </a:r>
            <a:endParaRPr lang="en-IN" sz="1600" dirty="0"/>
          </a:p>
        </p:txBody>
      </p:sp>
      <p:pic>
        <p:nvPicPr>
          <p:cNvPr id="2" name="Picture 1"/>
          <p:cNvPicPr>
            <a:picLocks noChangeAspect="1"/>
          </p:cNvPicPr>
          <p:nvPr/>
        </p:nvPicPr>
        <p:blipFill>
          <a:blip r:embed="rId3"/>
          <a:stretch>
            <a:fillRect/>
          </a:stretch>
        </p:blipFill>
        <p:spPr>
          <a:xfrm>
            <a:off x="10155760" y="28791"/>
            <a:ext cx="2036240" cy="6828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p:cNvSpPr>
            <a:spLocks noGrp="1"/>
          </p:cNvSpPr>
          <p:nvPr>
            <p:ph type="sldNum" sz="quarter" idx="12"/>
          </p:nvPr>
        </p:nvSpPr>
        <p:spPr/>
        <p:txBody>
          <a:bodyPr/>
          <a:lstStyle/>
          <a:p>
            <a:fld id="{DCC87E5A-C157-4D8F-99A8-62A24CB99FF3}" type="slidenum">
              <a:rPr lang="en-US" altLang="en-US" b="1" smtClean="0">
                <a:solidFill>
                  <a:schemeClr val="tx1"/>
                </a:solidFill>
              </a:rPr>
              <a:t>9</a:t>
            </a:fld>
            <a:endParaRPr lang="en-US" altLang="en-US" b="1" dirty="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447800"/>
            <a:ext cx="7391400" cy="4267200"/>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600200"/>
            <a:ext cx="7391400" cy="4267200"/>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299" y="1524000"/>
            <a:ext cx="7391400" cy="4267200"/>
          </a:xfrm>
          <a:prstGeom prst="rect">
            <a:avLst/>
          </a:prstGeom>
        </p:spPr>
      </p:pic>
      <p:sp>
        <p:nvSpPr>
          <p:cNvPr id="8" name="Rectangle 7"/>
          <p:cNvSpPr/>
          <p:nvPr/>
        </p:nvSpPr>
        <p:spPr>
          <a:xfrm>
            <a:off x="609600" y="480793"/>
            <a:ext cx="3869649" cy="646331"/>
          </a:xfrm>
          <a:prstGeom prst="rect">
            <a:avLst/>
          </a:prstGeom>
        </p:spPr>
        <p:txBody>
          <a:bodyPr wrap="none">
            <a:spAutoFit/>
          </a:bodyPr>
          <a:lstStyle/>
          <a:p>
            <a:r>
              <a:rPr lang="en-US" sz="3600" b="1" u="sng" dirty="0">
                <a:solidFill>
                  <a:srgbClr val="002060"/>
                </a:solidFill>
                <a:latin typeface="Times New Roman" panose="02020603050405020304" pitchFamily="18" charset="0"/>
                <a:cs typeface="Times New Roman" panose="02020603050405020304" pitchFamily="18" charset="0"/>
              </a:rPr>
              <a:t>Circuit Diagram :-</a:t>
            </a:r>
            <a:endParaRPr lang="en-IN" sz="3600" b="1" u="sng" dirty="0">
              <a:solidFill>
                <a:srgbClr val="002060"/>
              </a:solidFill>
            </a:endParaRPr>
          </a:p>
        </p:txBody>
      </p:sp>
      <p:pic>
        <p:nvPicPr>
          <p:cNvPr id="9" name="Picture 8"/>
          <p:cNvPicPr>
            <a:picLocks noChangeAspect="1"/>
          </p:cNvPicPr>
          <p:nvPr/>
        </p:nvPicPr>
        <p:blipFill>
          <a:blip r:embed="rId3"/>
          <a:stretch>
            <a:fillRect/>
          </a:stretch>
        </p:blipFill>
        <p:spPr>
          <a:xfrm>
            <a:off x="10160000" y="0"/>
            <a:ext cx="2036240" cy="682811"/>
          </a:xfrm>
          <a:prstGeom prst="rect">
            <a:avLst/>
          </a:prstGeom>
        </p:spPr>
      </p:pic>
    </p:spTree>
    <p:extLst>
      <p:ext uri="{BB962C8B-B14F-4D97-AF65-F5344CB8AC3E}">
        <p14:creationId xmlns:p14="http://schemas.microsoft.com/office/powerpoint/2010/main" val="2093213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p:cNvSpPr>
            <a:spLocks noGrp="1"/>
          </p:cNvSpPr>
          <p:nvPr>
            <p:ph type="ftr" sz="quarter" idx="11"/>
          </p:nvPr>
        </p:nvSpPr>
        <p:spPr>
          <a:xfrm>
            <a:off x="4184403" y="6448426"/>
            <a:ext cx="3860800" cy="365125"/>
          </a:xfrm>
        </p:spPr>
        <p:txBody>
          <a:bodyPr/>
          <a:lstStyle/>
          <a:p>
            <a:pPr>
              <a:defRPr/>
            </a:pPr>
            <a:r>
              <a:rPr lang="en-US" b="1" dirty="0">
                <a:solidFill>
                  <a:schemeClr val="tx1"/>
                </a:solidFill>
              </a:rPr>
              <a:t>Department of EEE</a:t>
            </a:r>
          </a:p>
        </p:txBody>
      </p:sp>
      <p:sp>
        <p:nvSpPr>
          <p:cNvPr id="4" name="Slide Number Placeholder 3"/>
          <p:cNvSpPr>
            <a:spLocks noGrp="1"/>
          </p:cNvSpPr>
          <p:nvPr>
            <p:ph type="sldNum" sz="quarter" idx="12"/>
          </p:nvPr>
        </p:nvSpPr>
        <p:spPr/>
        <p:txBody>
          <a:bodyPr/>
          <a:lstStyle/>
          <a:p>
            <a:fld id="{DCC87E5A-C157-4D8F-99A8-62A24CB99FF3}" type="slidenum">
              <a:rPr lang="en-US" altLang="en-US" b="1" smtClean="0">
                <a:solidFill>
                  <a:schemeClr val="tx1"/>
                </a:solidFill>
              </a:rPr>
              <a:t>10</a:t>
            </a:fld>
            <a:endParaRPr lang="en-US" altLang="en-US" b="1" dirty="0">
              <a:solidFill>
                <a:schemeClr val="tx1"/>
              </a:solidFill>
            </a:endParaRPr>
          </a:p>
        </p:txBody>
      </p:sp>
      <p:sp>
        <p:nvSpPr>
          <p:cNvPr id="11" name="Content Placeholder 10"/>
          <p:cNvSpPr>
            <a:spLocks noGrp="1"/>
          </p:cNvSpPr>
          <p:nvPr>
            <p:ph sz="half" idx="1"/>
          </p:nvPr>
        </p:nvSpPr>
        <p:spPr>
          <a:xfrm>
            <a:off x="142175" y="192501"/>
            <a:ext cx="5841999" cy="6190096"/>
          </a:xfrm>
        </p:spPr>
        <p:txBody>
          <a:bodyPr/>
          <a:lstStyle/>
          <a:p>
            <a:pPr marL="0" indent="0">
              <a:buNone/>
            </a:pPr>
            <a:endParaRPr lang="en-US" sz="2400" b="1" u="sng" dirty="0">
              <a:latin typeface="Times New Roman" panose="02020603050405020304" pitchFamily="18" charset="0"/>
              <a:cs typeface="Times New Roman" panose="02020603050405020304" pitchFamily="18" charset="0"/>
            </a:endParaRPr>
          </a:p>
          <a:p>
            <a:pPr marL="0" indent="0">
              <a:buNone/>
            </a:pPr>
            <a:r>
              <a:rPr lang="en-US" b="1" u="sng" dirty="0">
                <a:solidFill>
                  <a:srgbClr val="002060"/>
                </a:solidFill>
                <a:latin typeface="Times New Roman" panose="02020603050405020304" pitchFamily="18" charset="0"/>
                <a:cs typeface="Times New Roman" panose="02020603050405020304" pitchFamily="18" charset="0"/>
              </a:rPr>
              <a:t>Power Circuit for VFD :-</a:t>
            </a:r>
          </a:p>
          <a:p>
            <a:pPr marL="0" indent="0">
              <a:buNone/>
            </a:pPr>
            <a:endParaRPr lang="en-US" sz="2000" b="1" u="sng"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Incoming 3-phase supply (R-Y-B) is fed to the panel through </a:t>
            </a:r>
            <a:r>
              <a:rPr lang="en-US" sz="2400" dirty="0" err="1">
                <a:latin typeface="Times New Roman" panose="02020603050405020304" pitchFamily="18" charset="0"/>
                <a:cs typeface="Times New Roman" panose="02020603050405020304" pitchFamily="18" charset="0"/>
              </a:rPr>
              <a:t>busbars</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Fuses and 3-pole circuit breaker provide short-circuit and overload protection.</a:t>
            </a:r>
          </a:p>
          <a:p>
            <a:pPr algn="just">
              <a:lnSpc>
                <a:spcPct val="150000"/>
              </a:lnSpc>
            </a:pPr>
            <a:r>
              <a:rPr lang="en-US" sz="2400" dirty="0">
                <a:latin typeface="Times New Roman" panose="02020603050405020304" pitchFamily="18" charset="0"/>
                <a:cs typeface="Times New Roman" panose="02020603050405020304" pitchFamily="18" charset="0"/>
              </a:rPr>
              <a:t>Input contactor (NO contacts) controls ON/OFF power supply to the VFD.</a:t>
            </a:r>
          </a:p>
          <a:p>
            <a:pPr algn="just">
              <a:lnSpc>
                <a:spcPct val="150000"/>
              </a:lnSpc>
            </a:pPr>
            <a:r>
              <a:rPr lang="en-US" sz="2400" dirty="0">
                <a:latin typeface="Times New Roman" panose="02020603050405020304" pitchFamily="18" charset="0"/>
                <a:cs typeface="Times New Roman" panose="02020603050405020304" pitchFamily="18" charset="0"/>
              </a:rPr>
              <a:t>VFD converts fixed AC to variable voltage and frequency to control motor speed.</a:t>
            </a:r>
          </a:p>
        </p:txBody>
      </p:sp>
      <p:pic>
        <p:nvPicPr>
          <p:cNvPr id="19" name="Content Placeholder 1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78187" y="677967"/>
            <a:ext cx="6019800" cy="5638800"/>
          </a:xfrm>
        </p:spPr>
      </p:pic>
      <p:pic>
        <p:nvPicPr>
          <p:cNvPr id="21" name="Picture 20"/>
          <p:cNvPicPr>
            <a:picLocks noChangeAspect="1"/>
          </p:cNvPicPr>
          <p:nvPr/>
        </p:nvPicPr>
        <p:blipFill>
          <a:blip r:embed="rId4"/>
          <a:stretch>
            <a:fillRect/>
          </a:stretch>
        </p:blipFill>
        <p:spPr>
          <a:xfrm>
            <a:off x="10155760" y="0"/>
            <a:ext cx="2036240" cy="682811"/>
          </a:xfrm>
          <a:prstGeom prst="rect">
            <a:avLst/>
          </a:prstGeom>
        </p:spPr>
      </p:pic>
    </p:spTree>
    <p:extLst>
      <p:ext uri="{BB962C8B-B14F-4D97-AF65-F5344CB8AC3E}">
        <p14:creationId xmlns:p14="http://schemas.microsoft.com/office/powerpoint/2010/main" val="429084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174F7F-C652-3918-07BA-108C61C97527}"/>
              </a:ext>
            </a:extLst>
          </p:cNvPr>
          <p:cNvSpPr>
            <a:spLocks noGrp="1"/>
          </p:cNvSpPr>
          <p:nvPr>
            <p:ph type="dt" sz="half" idx="10"/>
          </p:nvPr>
        </p:nvSpPr>
        <p:spPr>
          <a:xfrm>
            <a:off x="381000" y="6238749"/>
            <a:ext cx="2844800" cy="365125"/>
          </a:xfrm>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a:extLst>
              <a:ext uri="{FF2B5EF4-FFF2-40B4-BE49-F238E27FC236}">
                <a16:creationId xmlns:a16="http://schemas.microsoft.com/office/drawing/2014/main" id="{7496FA24-D5F5-B4A8-0ED8-2234DFA7014F}"/>
              </a:ext>
            </a:extLst>
          </p:cNvPr>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a:extLst>
              <a:ext uri="{FF2B5EF4-FFF2-40B4-BE49-F238E27FC236}">
                <a16:creationId xmlns:a16="http://schemas.microsoft.com/office/drawing/2014/main" id="{B74F29F6-79F8-E4E3-407F-2B5C9D17F1C4}"/>
              </a:ext>
            </a:extLst>
          </p:cNvPr>
          <p:cNvSpPr>
            <a:spLocks noGrp="1"/>
          </p:cNvSpPr>
          <p:nvPr>
            <p:ph type="sldNum" sz="quarter" idx="12"/>
          </p:nvPr>
        </p:nvSpPr>
        <p:spPr/>
        <p:txBody>
          <a:bodyPr/>
          <a:lstStyle/>
          <a:p>
            <a:fld id="{DCC87E5A-C157-4D8F-99A8-62A24CB99FF3}" type="slidenum">
              <a:rPr lang="en-US" altLang="en-US" smtClean="0">
                <a:solidFill>
                  <a:schemeClr val="tx1"/>
                </a:solidFill>
              </a:rPr>
              <a:t>11</a:t>
            </a:fld>
            <a:endParaRPr lang="en-US" altLang="en-US" dirty="0">
              <a:solidFill>
                <a:schemeClr val="tx1"/>
              </a:solidFill>
            </a:endParaRPr>
          </a:p>
        </p:txBody>
      </p:sp>
      <p:sp>
        <p:nvSpPr>
          <p:cNvPr id="6" name="TextBox 5">
            <a:extLst>
              <a:ext uri="{FF2B5EF4-FFF2-40B4-BE49-F238E27FC236}">
                <a16:creationId xmlns:a16="http://schemas.microsoft.com/office/drawing/2014/main" id="{EA08DFCA-E6FD-4D0C-A730-E5D4642EA40D}"/>
              </a:ext>
            </a:extLst>
          </p:cNvPr>
          <p:cNvSpPr txBox="1"/>
          <p:nvPr/>
        </p:nvSpPr>
        <p:spPr>
          <a:xfrm>
            <a:off x="773371" y="838200"/>
            <a:ext cx="8156058" cy="3892861"/>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VFD output (U-V-W) supplies controlled power to the 3-phase induction motor.</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Motor speed varies with output frequency of the VFD.</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Earthing (PE) ensures safety and reduces electrical noise.</a:t>
            </a:r>
          </a:p>
        </p:txBody>
      </p:sp>
      <p:pic>
        <p:nvPicPr>
          <p:cNvPr id="5" name="Picture 4">
            <a:extLst>
              <a:ext uri="{FF2B5EF4-FFF2-40B4-BE49-F238E27FC236}">
                <a16:creationId xmlns:a16="http://schemas.microsoft.com/office/drawing/2014/main" id="{B2B14F67-B00A-E992-1635-9C0D95D95D86}"/>
              </a:ext>
            </a:extLst>
          </p:cNvPr>
          <p:cNvPicPr>
            <a:picLocks noChangeAspect="1"/>
          </p:cNvPicPr>
          <p:nvPr/>
        </p:nvPicPr>
        <p:blipFill>
          <a:blip r:embed="rId2"/>
          <a:stretch>
            <a:fillRect/>
          </a:stretch>
        </p:blipFill>
        <p:spPr>
          <a:xfrm>
            <a:off x="9982200" y="0"/>
            <a:ext cx="2036240" cy="682811"/>
          </a:xfrm>
          <a:prstGeom prst="rect">
            <a:avLst/>
          </a:prstGeom>
        </p:spPr>
      </p:pic>
    </p:spTree>
    <p:extLst>
      <p:ext uri="{BB962C8B-B14F-4D97-AF65-F5344CB8AC3E}">
        <p14:creationId xmlns:p14="http://schemas.microsoft.com/office/powerpoint/2010/main" val="1943442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7010" y="0"/>
            <a:ext cx="4445990" cy="1485108"/>
          </a:xfrm>
        </p:spPr>
        <p:txBody>
          <a:bodyPr/>
          <a:lstStyle/>
          <a:p>
            <a:r>
              <a:rPr lang="en-US" sz="2800" b="1" u="sng" dirty="0">
                <a:solidFill>
                  <a:srgbClr val="002060"/>
                </a:solidFill>
                <a:latin typeface="Times New Roman" panose="02020603050405020304" pitchFamily="18" charset="0"/>
                <a:cs typeface="Times New Roman" panose="02020603050405020304" pitchFamily="18" charset="0"/>
              </a:rPr>
              <a:t>Control Circuit for VFD:-</a:t>
            </a:r>
            <a:endParaRPr lang="en-IN" sz="2800" b="1" u="sng" dirty="0">
              <a:solidFill>
                <a:srgbClr val="002060"/>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sz="half" idx="1"/>
          </p:nvPr>
        </p:nvSpPr>
        <p:spPr>
          <a:xfrm>
            <a:off x="425685" y="838201"/>
            <a:ext cx="5898915" cy="5336988"/>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Control supply enters through MCB for protection.</a:t>
            </a:r>
          </a:p>
          <a:p>
            <a:pPr>
              <a:lnSpc>
                <a:spcPct val="150000"/>
              </a:lnSpc>
            </a:pPr>
            <a:r>
              <a:rPr lang="en-US" sz="2400" dirty="0">
                <a:latin typeface="Times New Roman" panose="02020603050405020304" pitchFamily="18" charset="0"/>
                <a:cs typeface="Times New Roman" panose="02020603050405020304" pitchFamily="18" charset="0"/>
              </a:rPr>
              <a:t>NC STOP push button provides emergency stopping.</a:t>
            </a:r>
          </a:p>
          <a:p>
            <a:pPr>
              <a:lnSpc>
                <a:spcPct val="150000"/>
              </a:lnSpc>
            </a:pPr>
            <a:r>
              <a:rPr lang="en-US" sz="2400" dirty="0">
                <a:latin typeface="Times New Roman" panose="02020603050405020304" pitchFamily="18" charset="0"/>
                <a:cs typeface="Times New Roman" panose="02020603050405020304" pitchFamily="18" charset="0"/>
              </a:rPr>
              <a:t>NO START push button energizes the contactor coil.</a:t>
            </a:r>
          </a:p>
          <a:p>
            <a:pPr>
              <a:lnSpc>
                <a:spcPct val="150000"/>
              </a:lnSpc>
            </a:pPr>
            <a:r>
              <a:rPr lang="en-US" sz="2400" dirty="0">
                <a:latin typeface="Times New Roman" panose="02020603050405020304" pitchFamily="18" charset="0"/>
                <a:cs typeface="Times New Roman" panose="02020603050405020304" pitchFamily="18" charset="0"/>
              </a:rPr>
              <a:t>Auxiliary NO contact provides self-holding (latching) of the contactor.</a:t>
            </a:r>
          </a:p>
          <a:p>
            <a:pPr>
              <a:lnSpc>
                <a:spcPct val="150000"/>
              </a:lnSpc>
            </a:pPr>
            <a:r>
              <a:rPr lang="en-US" sz="2400" dirty="0">
                <a:latin typeface="Times New Roman" panose="02020603050405020304" pitchFamily="18" charset="0"/>
                <a:cs typeface="Times New Roman" panose="02020603050405020304" pitchFamily="18" charset="0"/>
              </a:rPr>
              <a:t>Contactor coil enables power supply to </a:t>
            </a:r>
            <a:r>
              <a:rPr lang="en-US" sz="2400" dirty="0" err="1">
                <a:latin typeface="Times New Roman" panose="02020603050405020304" pitchFamily="18" charset="0"/>
                <a:cs typeface="Times New Roman" panose="02020603050405020304" pitchFamily="18" charset="0"/>
              </a:rPr>
              <a:t>vfd</a:t>
            </a:r>
            <a:r>
              <a:rPr lang="en-US" sz="2400" dirty="0">
                <a:latin typeface="Times New Roman" panose="02020603050405020304" pitchFamily="18" charset="0"/>
                <a:cs typeface="Times New Roman" panose="02020603050405020304" pitchFamily="18" charset="0"/>
              </a:rPr>
              <a:t> </a:t>
            </a:r>
          </a:p>
          <a:p>
            <a:pPr>
              <a:lnSpc>
                <a:spcPct val="150000"/>
              </a:lnSpc>
            </a:pPr>
            <a:endParaRPr lang="en-US" sz="2400" dirty="0">
              <a:latin typeface="Times New Roman" panose="02020603050405020304" pitchFamily="18" charset="0"/>
              <a:cs typeface="Times New Roman" panose="02020603050405020304" pitchFamily="18" charset="0"/>
            </a:endParaRP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a:xfrm>
            <a:off x="425685" y="6356351"/>
            <a:ext cx="2844800" cy="365125"/>
          </a:xfrm>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p:cNvSpPr>
            <a:spLocks noGrp="1"/>
          </p:cNvSpPr>
          <p:nvPr>
            <p:ph type="ftr" sz="quarter" idx="11"/>
          </p:nvPr>
        </p:nvSpPr>
        <p:spPr/>
        <p:txBody>
          <a:bodyPr/>
          <a:lstStyle/>
          <a:p>
            <a:pPr>
              <a:defRPr/>
            </a:pPr>
            <a:r>
              <a:rPr lang="en-US" b="1" dirty="0">
                <a:solidFill>
                  <a:schemeClr val="tx1"/>
                </a:solidFill>
                <a:cs typeface="Arial" panose="020B0604020202020204" pitchFamily="34" charset="0"/>
              </a:rPr>
              <a:t>Department of EEE</a:t>
            </a:r>
          </a:p>
        </p:txBody>
      </p:sp>
      <p:sp>
        <p:nvSpPr>
          <p:cNvPr id="4" name="Slide Number Placeholder 3"/>
          <p:cNvSpPr>
            <a:spLocks noGrp="1"/>
          </p:cNvSpPr>
          <p:nvPr>
            <p:ph type="sldNum" sz="quarter" idx="12"/>
          </p:nvPr>
        </p:nvSpPr>
        <p:spPr/>
        <p:txBody>
          <a:bodyPr/>
          <a:lstStyle/>
          <a:p>
            <a:fld id="{DCC87E5A-C157-4D8F-99A8-62A24CB99FF3}" type="slidenum">
              <a:rPr lang="en-US" altLang="en-US" b="1" smtClean="0">
                <a:solidFill>
                  <a:schemeClr val="tx1"/>
                </a:solidFill>
              </a:rPr>
              <a:t>12</a:t>
            </a:fld>
            <a:endParaRPr lang="en-US" altLang="en-US" b="1" dirty="0">
              <a:solidFill>
                <a:schemeClr val="tx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1646" y="682812"/>
            <a:ext cx="5998759" cy="5336990"/>
          </a:xfrm>
          <a:prstGeom prst="rect">
            <a:avLst/>
          </a:prstGeom>
        </p:spPr>
      </p:pic>
      <p:pic>
        <p:nvPicPr>
          <p:cNvPr id="9" name="Picture 8"/>
          <p:cNvPicPr>
            <a:picLocks noChangeAspect="1"/>
          </p:cNvPicPr>
          <p:nvPr/>
        </p:nvPicPr>
        <p:blipFill>
          <a:blip r:embed="rId4"/>
          <a:stretch>
            <a:fillRect/>
          </a:stretch>
        </p:blipFill>
        <p:spPr>
          <a:xfrm>
            <a:off x="10144166" y="0"/>
            <a:ext cx="2036240" cy="682811"/>
          </a:xfrm>
          <a:prstGeom prst="rect">
            <a:avLst/>
          </a:prstGeom>
        </p:spPr>
      </p:pic>
    </p:spTree>
    <p:extLst>
      <p:ext uri="{BB962C8B-B14F-4D97-AF65-F5344CB8AC3E}">
        <p14:creationId xmlns:p14="http://schemas.microsoft.com/office/powerpoint/2010/main" val="3249966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b="1" u="sng" dirty="0">
                <a:solidFill>
                  <a:srgbClr val="002060"/>
                </a:solidFill>
                <a:latin typeface="Times New Roman" panose="02020603050405020304" pitchFamily="18" charset="0"/>
                <a:cs typeface="Times New Roman" panose="02020603050405020304" pitchFamily="18" charset="0"/>
              </a:rPr>
              <a:t>CHARACTERISTICS OF VFD</a:t>
            </a:r>
            <a:endParaRPr lang="en-IN" sz="3200" b="1" u="sng" dirty="0">
              <a:solidFill>
                <a:srgbClr val="002060"/>
              </a:solidFill>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sz="half" idx="1"/>
          </p:nvPr>
        </p:nvSpPr>
        <p:spPr>
          <a:xfrm>
            <a:off x="609600" y="1219201"/>
            <a:ext cx="5384800" cy="4906964"/>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Starting torque is developed at zero speed when the motor starts.</a:t>
            </a:r>
          </a:p>
          <a:p>
            <a:pPr algn="just">
              <a:lnSpc>
                <a:spcPct val="150000"/>
              </a:lnSpc>
            </a:pPr>
            <a:r>
              <a:rPr lang="en-US" sz="2400" dirty="0">
                <a:latin typeface="Times New Roman" panose="02020603050405020304" pitchFamily="18" charset="0"/>
                <a:cs typeface="Times New Roman" panose="02020603050405020304" pitchFamily="18" charset="0"/>
              </a:rPr>
              <a:t>Torque increases with speed and reaches maximum (breakdown torque).</a:t>
            </a:r>
          </a:p>
          <a:p>
            <a:pPr algn="just">
              <a:lnSpc>
                <a:spcPct val="150000"/>
              </a:lnSpc>
            </a:pPr>
            <a:r>
              <a:rPr lang="en-US" sz="2400" dirty="0">
                <a:latin typeface="Times New Roman" panose="02020603050405020304" pitchFamily="18" charset="0"/>
                <a:cs typeface="Times New Roman" panose="02020603050405020304" pitchFamily="18" charset="0"/>
              </a:rPr>
              <a:t>Normal motor operation occurs below synchronous speed (Ns).</a:t>
            </a:r>
          </a:p>
          <a:p>
            <a:pPr algn="just">
              <a:lnSpc>
                <a:spcPct val="150000"/>
              </a:lnSpc>
            </a:pPr>
            <a:r>
              <a:rPr lang="en-US" sz="2400" dirty="0">
                <a:latin typeface="Times New Roman" panose="02020603050405020304" pitchFamily="18" charset="0"/>
                <a:cs typeface="Times New Roman" panose="02020603050405020304" pitchFamily="18" charset="0"/>
              </a:rPr>
              <a:t>At synchronous speed (Ns), torque becomes zero.</a:t>
            </a:r>
          </a:p>
        </p:txBody>
      </p:sp>
      <p:sp>
        <p:nvSpPr>
          <p:cNvPr id="2" name="Date Placeholder 1"/>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p:cNvSpPr>
            <a:spLocks noGrp="1"/>
          </p:cNvSpPr>
          <p:nvPr>
            <p:ph type="sldNum" sz="quarter" idx="12"/>
          </p:nvPr>
        </p:nvSpPr>
        <p:spPr/>
        <p:txBody>
          <a:bodyPr/>
          <a:lstStyle/>
          <a:p>
            <a:fld id="{DCC87E5A-C157-4D8F-99A8-62A24CB99FF3}" type="slidenum">
              <a:rPr lang="en-US" altLang="en-US" b="1" smtClean="0">
                <a:solidFill>
                  <a:schemeClr val="tx1"/>
                </a:solidFill>
              </a:rPr>
              <a:t>13</a:t>
            </a:fld>
            <a:endParaRPr lang="en-US" altLang="en-US" b="1" dirty="0">
              <a:solidFill>
                <a:schemeClr val="tx1"/>
              </a:solidFill>
            </a:endParaRPr>
          </a:p>
        </p:txBody>
      </p:sp>
      <p:sp>
        <p:nvSpPr>
          <p:cNvPr id="6" name="AutoShape 2" descr="Three-Phase Induction Motor Torque-Speed Characteristic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4" name="Picture 4" descr="Three-Phase Induction Motor Torque-Speed Characteristic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7601" y="1417638"/>
            <a:ext cx="5588000" cy="47085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10155760" y="7937"/>
            <a:ext cx="2036240" cy="682811"/>
          </a:xfrm>
          <a:prstGeom prst="rect">
            <a:avLst/>
          </a:prstGeom>
        </p:spPr>
      </p:pic>
    </p:spTree>
    <p:extLst>
      <p:ext uri="{BB962C8B-B14F-4D97-AF65-F5344CB8AC3E}">
        <p14:creationId xmlns:p14="http://schemas.microsoft.com/office/powerpoint/2010/main" val="2989911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195756-3237-91F8-9F5C-149A09DAF265}"/>
              </a:ext>
            </a:extLst>
          </p:cNvPr>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a:extLst>
              <a:ext uri="{FF2B5EF4-FFF2-40B4-BE49-F238E27FC236}">
                <a16:creationId xmlns:a16="http://schemas.microsoft.com/office/drawing/2014/main" id="{9FA04947-434C-802F-B192-70D61CA4D35B}"/>
              </a:ext>
            </a:extLst>
          </p:cNvPr>
          <p:cNvSpPr>
            <a:spLocks noGrp="1"/>
          </p:cNvSpPr>
          <p:nvPr>
            <p:ph type="ftr" sz="quarter" idx="11"/>
          </p:nvPr>
        </p:nvSpPr>
        <p:spPr/>
        <p:txBody>
          <a:bodyPr/>
          <a:lstStyle/>
          <a:p>
            <a:pPr>
              <a:defRPr/>
            </a:pPr>
            <a:r>
              <a:rPr lang="en-US" b="1" dirty="0">
                <a:solidFill>
                  <a:schemeClr val="tx1"/>
                </a:solidFill>
                <a:latin typeface="Times New Roman" panose="02020603050405020304" pitchFamily="18" charset="0"/>
                <a:cs typeface="Times New Roman" panose="02020603050405020304" pitchFamily="18" charset="0"/>
              </a:rPr>
              <a:t>Department of EEE</a:t>
            </a:r>
          </a:p>
        </p:txBody>
      </p:sp>
      <p:sp>
        <p:nvSpPr>
          <p:cNvPr id="4" name="Slide Number Placeholder 3">
            <a:extLst>
              <a:ext uri="{FF2B5EF4-FFF2-40B4-BE49-F238E27FC236}">
                <a16:creationId xmlns:a16="http://schemas.microsoft.com/office/drawing/2014/main" id="{B1000716-490A-5FB8-D650-3C66EB732865}"/>
              </a:ext>
            </a:extLst>
          </p:cNvPr>
          <p:cNvSpPr>
            <a:spLocks noGrp="1"/>
          </p:cNvSpPr>
          <p:nvPr>
            <p:ph type="sldNum" sz="quarter" idx="12"/>
          </p:nvPr>
        </p:nvSpPr>
        <p:spPr/>
        <p:txBody>
          <a:bodyPr/>
          <a:lstStyle/>
          <a:p>
            <a:fld id="{DCC87E5A-C157-4D8F-99A8-62A24CB99FF3}" type="slidenum">
              <a:rPr lang="en-US" altLang="en-US" smtClean="0">
                <a:solidFill>
                  <a:schemeClr val="tx1"/>
                </a:solidFill>
              </a:rPr>
              <a:t>14</a:t>
            </a:fld>
            <a:endParaRPr lang="en-US" altLang="en-US" dirty="0">
              <a:solidFill>
                <a:schemeClr val="tx1"/>
              </a:solidFill>
            </a:endParaRPr>
          </a:p>
        </p:txBody>
      </p:sp>
      <p:sp>
        <p:nvSpPr>
          <p:cNvPr id="6" name="TextBox 5">
            <a:extLst>
              <a:ext uri="{FF2B5EF4-FFF2-40B4-BE49-F238E27FC236}">
                <a16:creationId xmlns:a16="http://schemas.microsoft.com/office/drawing/2014/main" id="{1268C07F-4258-0B00-FD6F-D21CA05EA806}"/>
              </a:ext>
            </a:extLst>
          </p:cNvPr>
          <p:cNvSpPr txBox="1"/>
          <p:nvPr/>
        </p:nvSpPr>
        <p:spPr>
          <a:xfrm>
            <a:off x="2209800" y="1066800"/>
            <a:ext cx="9144000" cy="224196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Above Ns, motor operates in generator mode.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Motor region is used for driving loads.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Generator region enables regenerative braking.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Speed variation range depends on load and supply conditions</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CA14FBA-03B3-A46B-1233-9B0493A915CB}"/>
              </a:ext>
            </a:extLst>
          </p:cNvPr>
          <p:cNvPicPr>
            <a:picLocks noChangeAspect="1"/>
          </p:cNvPicPr>
          <p:nvPr/>
        </p:nvPicPr>
        <p:blipFill>
          <a:blip r:embed="rId2"/>
          <a:stretch>
            <a:fillRect/>
          </a:stretch>
        </p:blipFill>
        <p:spPr>
          <a:xfrm>
            <a:off x="9982200" y="28353"/>
            <a:ext cx="2133600" cy="682811"/>
          </a:xfrm>
          <a:prstGeom prst="rect">
            <a:avLst/>
          </a:prstGeom>
        </p:spPr>
      </p:pic>
    </p:spTree>
    <p:extLst>
      <p:ext uri="{BB962C8B-B14F-4D97-AF65-F5344CB8AC3E}">
        <p14:creationId xmlns:p14="http://schemas.microsoft.com/office/powerpoint/2010/main" val="3066852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136523"/>
            <a:ext cx="5105400" cy="854077"/>
          </a:xfrm>
        </p:spPr>
        <p:txBody>
          <a:bodyPr/>
          <a:lstStyle/>
          <a:p>
            <a:r>
              <a:rPr lang="en-US" sz="2800" b="1" u="sng" dirty="0">
                <a:solidFill>
                  <a:srgbClr val="002060"/>
                </a:solidFill>
                <a:latin typeface="Times New Roman" panose="02020603050405020304" pitchFamily="18" charset="0"/>
                <a:cs typeface="Times New Roman" panose="02020603050405020304" pitchFamily="18" charset="0"/>
              </a:rPr>
              <a:t>Overview of  2D panel layout:-</a:t>
            </a:r>
            <a:endParaRPr lang="en-IN" sz="2800" b="1" u="sng" dirty="0">
              <a:solidFill>
                <a:srgbClr val="002060"/>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a:xfrm>
            <a:off x="558800" y="6356350"/>
            <a:ext cx="2844800" cy="365125"/>
          </a:xfrm>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p:cNvSpPr>
            <a:spLocks noGrp="1"/>
          </p:cNvSpPr>
          <p:nvPr>
            <p:ph type="sldNum" sz="quarter" idx="12"/>
          </p:nvPr>
        </p:nvSpPr>
        <p:spPr/>
        <p:txBody>
          <a:bodyPr/>
          <a:lstStyle/>
          <a:p>
            <a:fld id="{DCC87E5A-C157-4D8F-99A8-62A24CB99FF3}" type="slidenum">
              <a:rPr lang="en-US" altLang="en-US" b="1" smtClean="0">
                <a:solidFill>
                  <a:schemeClr val="tx1"/>
                </a:solidFill>
              </a:rPr>
              <a:t>15</a:t>
            </a:fld>
            <a:endParaRPr lang="en-US" altLang="en-US" b="1" dirty="0">
              <a:solidFill>
                <a:schemeClr val="tx1"/>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912997"/>
            <a:ext cx="6096000" cy="5213168"/>
          </a:xfrm>
          <a:prstGeom prst="rect">
            <a:avLst/>
          </a:prstGeom>
        </p:spPr>
      </p:pic>
      <p:sp>
        <p:nvSpPr>
          <p:cNvPr id="13" name="Content Placeholder 12"/>
          <p:cNvSpPr>
            <a:spLocks noGrp="1"/>
          </p:cNvSpPr>
          <p:nvPr>
            <p:ph sz="half" idx="1"/>
          </p:nvPr>
        </p:nvSpPr>
        <p:spPr>
          <a:xfrm>
            <a:off x="609600" y="990601"/>
            <a:ext cx="5588000" cy="5135564"/>
          </a:xfrm>
        </p:spPr>
        <p:txBody>
          <a:bodyPr/>
          <a:lstStyle/>
          <a:p>
            <a:r>
              <a:rPr lang="en-US" sz="2400" dirty="0">
                <a:latin typeface="Times New Roman" panose="02020603050405020304" pitchFamily="18" charset="0"/>
                <a:cs typeface="Times New Roman" panose="02020603050405020304" pitchFamily="18" charset="0"/>
              </a:rPr>
              <a:t>Panel layout shows physical arrangement of all components inside the control panel.</a:t>
            </a:r>
          </a:p>
          <a:p>
            <a:r>
              <a:rPr lang="en-US" sz="2400" dirty="0">
                <a:latin typeface="Times New Roman" panose="02020603050405020304" pitchFamily="18" charset="0"/>
                <a:cs typeface="Times New Roman" panose="02020603050405020304" pitchFamily="18" charset="0"/>
              </a:rPr>
              <a:t>Provides clear visualization of component placement inside the panel</a:t>
            </a:r>
          </a:p>
          <a:p>
            <a:r>
              <a:rPr lang="en-US" sz="2400" dirty="0">
                <a:latin typeface="Times New Roman" panose="02020603050405020304" pitchFamily="18" charset="0"/>
                <a:cs typeface="Times New Roman" panose="02020603050405020304" pitchFamily="18" charset="0"/>
              </a:rPr>
              <a:t>Reduces wiring errors during panel fabrication.</a:t>
            </a:r>
          </a:p>
          <a:p>
            <a:r>
              <a:rPr lang="en-US" sz="2400" dirty="0">
                <a:latin typeface="Times New Roman" panose="02020603050405020304" pitchFamily="18" charset="0"/>
                <a:cs typeface="Times New Roman" panose="02020603050405020304" pitchFamily="18" charset="0"/>
              </a:rPr>
              <a:t>Makes troubleshooting faster by easy component identification.</a:t>
            </a:r>
          </a:p>
          <a:p>
            <a:r>
              <a:rPr lang="en-US" sz="2400" dirty="0">
                <a:latin typeface="Times New Roman" panose="02020603050405020304" pitchFamily="18" charset="0"/>
                <a:cs typeface="Times New Roman" panose="02020603050405020304" pitchFamily="18" charset="0"/>
              </a:rPr>
              <a:t>Useful for documentation and approval before manufacturing.</a:t>
            </a:r>
          </a:p>
          <a:p>
            <a:r>
              <a:rPr lang="en-US" sz="2400" dirty="0">
                <a:latin typeface="Times New Roman" panose="02020603050405020304" pitchFamily="18" charset="0"/>
                <a:cs typeface="Times New Roman" panose="02020603050405020304" pitchFamily="18" charset="0"/>
              </a:rPr>
              <a:t>Saves time and cost during panel assembly</a:t>
            </a:r>
            <a:r>
              <a:rPr lang="en-US" sz="2400" dirty="0"/>
              <a:t>.</a:t>
            </a:r>
            <a:endParaRPr lang="en-US" sz="2400"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10160000" y="0"/>
            <a:ext cx="2036240" cy="682811"/>
          </a:xfrm>
          <a:prstGeom prst="rect">
            <a:avLst/>
          </a:prstGeom>
        </p:spPr>
      </p:pic>
    </p:spTree>
    <p:extLst>
      <p:ext uri="{BB962C8B-B14F-4D97-AF65-F5344CB8AC3E}">
        <p14:creationId xmlns:p14="http://schemas.microsoft.com/office/powerpoint/2010/main" val="3301527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333374"/>
          </a:xfrm>
        </p:spPr>
        <p:txBody>
          <a:bodyPr/>
          <a:lstStyle/>
          <a:p>
            <a:pPr algn="l"/>
            <a:r>
              <a:rPr lang="en-US" sz="3200" b="1" u="sng" dirty="0">
                <a:solidFill>
                  <a:srgbClr val="002060"/>
                </a:solidFill>
                <a:latin typeface="Times New Roman" panose="02020603050405020304" pitchFamily="18" charset="0"/>
                <a:cs typeface="Times New Roman" panose="02020603050405020304" pitchFamily="18" charset="0"/>
              </a:rPr>
              <a:t>Advantages:</a:t>
            </a:r>
            <a:endParaRPr lang="en-IN" b="1" u="sng" dirty="0">
              <a:solidFill>
                <a:srgbClr val="00206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9600" y="682812"/>
            <a:ext cx="10972800" cy="5062352"/>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Enables structured and standardized design of VFD motor control panels.</a:t>
            </a:r>
          </a:p>
          <a:p>
            <a:pPr algn="just">
              <a:lnSpc>
                <a:spcPct val="150000"/>
              </a:lnSpc>
            </a:pPr>
            <a:r>
              <a:rPr lang="en-US" sz="2400" dirty="0">
                <a:latin typeface="Times New Roman" panose="02020603050405020304" pitchFamily="18" charset="0"/>
                <a:cs typeface="Times New Roman" panose="02020603050405020304" pitchFamily="18" charset="0"/>
              </a:rPr>
              <a:t>Ensures high accuracy and consistency in electrical schematics.</a:t>
            </a:r>
          </a:p>
          <a:p>
            <a:pPr algn="just">
              <a:lnSpc>
                <a:spcPct val="150000"/>
              </a:lnSpc>
            </a:pPr>
            <a:r>
              <a:rPr lang="en-US" sz="2400" dirty="0">
                <a:latin typeface="Times New Roman" panose="02020603050405020304" pitchFamily="18" charset="0"/>
                <a:cs typeface="Times New Roman" panose="02020603050405020304" pitchFamily="18" charset="0"/>
              </a:rPr>
              <a:t>Minimizes design and wiring errors through automated functions.</a:t>
            </a:r>
          </a:p>
          <a:p>
            <a:pPr algn="just">
              <a:lnSpc>
                <a:spcPct val="150000"/>
              </a:lnSpc>
            </a:pPr>
            <a:r>
              <a:rPr lang="en-US" sz="2400" dirty="0">
                <a:latin typeface="Times New Roman" panose="02020603050405020304" pitchFamily="18" charset="0"/>
                <a:cs typeface="Times New Roman" panose="02020603050405020304" pitchFamily="18" charset="0"/>
              </a:rPr>
              <a:t>Reduces overall engineering and documentation time.</a:t>
            </a:r>
          </a:p>
          <a:p>
            <a:pPr algn="just">
              <a:lnSpc>
                <a:spcPct val="150000"/>
              </a:lnSpc>
            </a:pPr>
            <a:r>
              <a:rPr lang="en-US" sz="2400" dirty="0">
                <a:latin typeface="Times New Roman" panose="02020603050405020304" pitchFamily="18" charset="0"/>
                <a:cs typeface="Times New Roman" panose="02020603050405020304" pitchFamily="18" charset="0"/>
              </a:rPr>
              <a:t>Allows easy development of power, control, and safety circuits.</a:t>
            </a:r>
          </a:p>
          <a:p>
            <a:pPr algn="just">
              <a:lnSpc>
                <a:spcPct val="150000"/>
              </a:lnSpc>
            </a:pPr>
            <a:r>
              <a:rPr lang="en-US" sz="2400" dirty="0">
                <a:latin typeface="Times New Roman" panose="02020603050405020304" pitchFamily="18" charset="0"/>
                <a:cs typeface="Times New Roman" panose="02020603050405020304" pitchFamily="18" charset="0"/>
              </a:rPr>
              <a:t>Automatically generates terminal layouts and wiring diagrams.</a:t>
            </a:r>
          </a:p>
          <a:p>
            <a:pPr algn="just">
              <a:lnSpc>
                <a:spcPct val="150000"/>
              </a:lnSpc>
            </a:pPr>
            <a:r>
              <a:rPr lang="en-US" sz="2400" dirty="0">
                <a:latin typeface="Times New Roman" panose="02020603050405020304" pitchFamily="18" charset="0"/>
                <a:cs typeface="Times New Roman" panose="02020603050405020304" pitchFamily="18" charset="0"/>
              </a:rPr>
              <a:t>Provides an accurate and detailed bill of materials (BOM).</a:t>
            </a:r>
          </a:p>
          <a:p>
            <a:pPr algn="just">
              <a:lnSpc>
                <a:spcPct val="150000"/>
              </a:lnSpc>
            </a:pPr>
            <a:r>
              <a:rPr lang="en-US" sz="2400" dirty="0">
                <a:latin typeface="Times New Roman" panose="02020603050405020304" pitchFamily="18" charset="0"/>
                <a:cs typeface="Times New Roman" panose="02020603050405020304" pitchFamily="18" charset="0"/>
              </a:rPr>
              <a:t>Improves coordination between design, installation, and maintenance teams.</a:t>
            </a:r>
          </a:p>
          <a:p>
            <a:pPr algn="just">
              <a:lnSpc>
                <a:spcPct val="150000"/>
              </a:lnSpc>
            </a:pPr>
            <a:r>
              <a:rPr lang="en-US" sz="2400" dirty="0">
                <a:latin typeface="Times New Roman" panose="02020603050405020304" pitchFamily="18" charset="0"/>
                <a:cs typeface="Times New Roman" panose="02020603050405020304" pitchFamily="18" charset="0"/>
              </a:rPr>
              <a:t>Enhances troubleshooting through clear and well-organized documentation.</a:t>
            </a:r>
          </a:p>
          <a:p>
            <a:pPr>
              <a:lnSpc>
                <a:spcPct val="150000"/>
              </a:lnSpc>
            </a:pPr>
            <a:endParaRPr lang="en-US" sz="2400" dirty="0"/>
          </a:p>
          <a:p>
            <a:endParaRPr lang="en-US" sz="2400" dirty="0"/>
          </a:p>
          <a:p>
            <a:endParaRPr lang="en-US" sz="2400"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5" name="Footer Placeholder 4"/>
          <p:cNvSpPr>
            <a:spLocks noGrp="1"/>
          </p:cNvSpPr>
          <p:nvPr>
            <p:ph type="ftr" sz="quarter" idx="11"/>
          </p:nvPr>
        </p:nvSpPr>
        <p:spPr/>
        <p:txBody>
          <a:bodyPr/>
          <a:lstStyle/>
          <a:p>
            <a:pPr>
              <a:defRPr/>
            </a:pPr>
            <a:r>
              <a:rPr lang="en-US" b="1" dirty="0">
                <a:solidFill>
                  <a:schemeClr val="tx1"/>
                </a:solidFill>
              </a:rPr>
              <a:t>Department of EEE</a:t>
            </a:r>
          </a:p>
        </p:txBody>
      </p:sp>
      <p:sp>
        <p:nvSpPr>
          <p:cNvPr id="6" name="Slide Number Placeholder 5"/>
          <p:cNvSpPr>
            <a:spLocks noGrp="1"/>
          </p:cNvSpPr>
          <p:nvPr>
            <p:ph type="sldNum" sz="quarter" idx="12"/>
          </p:nvPr>
        </p:nvSpPr>
        <p:spPr/>
        <p:txBody>
          <a:bodyPr/>
          <a:lstStyle/>
          <a:p>
            <a:fld id="{D51F5643-2E87-411E-BBAA-130C617D41ED}" type="slidenum">
              <a:rPr lang="en-US" altLang="en-US" b="1" smtClean="0">
                <a:solidFill>
                  <a:schemeClr val="tx1"/>
                </a:solidFill>
              </a:rPr>
              <a:t>16</a:t>
            </a:fld>
            <a:endParaRPr lang="en-US" altLang="en-US" b="1" dirty="0">
              <a:solidFill>
                <a:schemeClr val="tx1"/>
              </a:solidFill>
            </a:endParaRPr>
          </a:p>
        </p:txBody>
      </p:sp>
      <p:pic>
        <p:nvPicPr>
          <p:cNvPr id="7" name="Picture 6"/>
          <p:cNvPicPr>
            <a:picLocks noChangeAspect="1"/>
          </p:cNvPicPr>
          <p:nvPr/>
        </p:nvPicPr>
        <p:blipFill>
          <a:blip r:embed="rId2"/>
          <a:stretch>
            <a:fillRect/>
          </a:stretch>
        </p:blipFill>
        <p:spPr>
          <a:xfrm>
            <a:off x="10160000" y="0"/>
            <a:ext cx="2036240" cy="682811"/>
          </a:xfrm>
          <a:prstGeom prst="rect">
            <a:avLst/>
          </a:prstGeom>
        </p:spPr>
      </p:pic>
    </p:spTree>
    <p:extLst>
      <p:ext uri="{BB962C8B-B14F-4D97-AF65-F5344CB8AC3E}">
        <p14:creationId xmlns:p14="http://schemas.microsoft.com/office/powerpoint/2010/main" val="2192224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1BD5F3-C3BB-33A7-68BF-AC0A0E0C80E0}"/>
              </a:ext>
            </a:extLst>
          </p:cNvPr>
          <p:cNvSpPr>
            <a:spLocks noGrp="1"/>
          </p:cNvSpPr>
          <p:nvPr>
            <p:ph type="dt" sz="half" idx="10"/>
          </p:nvPr>
        </p:nvSpPr>
        <p:spPr>
          <a:xfrm>
            <a:off x="304800" y="6356350"/>
            <a:ext cx="2844800" cy="365125"/>
          </a:xfrm>
        </p:spPr>
        <p:txBody>
          <a:bodyPr/>
          <a:lstStyle/>
          <a:p>
            <a:pPr>
              <a:defRPr/>
            </a:pPr>
            <a:r>
              <a:rPr lang="en-US" b="1" dirty="0">
                <a:solidFill>
                  <a:srgbClr val="002060"/>
                </a:solidFill>
              </a:rPr>
              <a:t>10/04/2026</a:t>
            </a:r>
          </a:p>
          <a:p>
            <a:pPr>
              <a:defRPr/>
            </a:pPr>
            <a:endParaRPr lang="en-US" b="1" dirty="0">
              <a:solidFill>
                <a:schemeClr val="tx1"/>
              </a:solidFill>
            </a:endParaRPr>
          </a:p>
        </p:txBody>
      </p:sp>
      <p:sp>
        <p:nvSpPr>
          <p:cNvPr id="3" name="Footer Placeholder 2">
            <a:extLst>
              <a:ext uri="{FF2B5EF4-FFF2-40B4-BE49-F238E27FC236}">
                <a16:creationId xmlns:a16="http://schemas.microsoft.com/office/drawing/2014/main" id="{29DE0EDF-1A72-C90D-AC4C-773B5590BD10}"/>
              </a:ext>
            </a:extLst>
          </p:cNvPr>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a:extLst>
              <a:ext uri="{FF2B5EF4-FFF2-40B4-BE49-F238E27FC236}">
                <a16:creationId xmlns:a16="http://schemas.microsoft.com/office/drawing/2014/main" id="{7D94CF68-0DEC-D3F2-5F79-7E583A91A409}"/>
              </a:ext>
            </a:extLst>
          </p:cNvPr>
          <p:cNvSpPr>
            <a:spLocks noGrp="1"/>
          </p:cNvSpPr>
          <p:nvPr>
            <p:ph type="sldNum" sz="quarter" idx="12"/>
          </p:nvPr>
        </p:nvSpPr>
        <p:spPr/>
        <p:txBody>
          <a:bodyPr/>
          <a:lstStyle/>
          <a:p>
            <a:fld id="{DCC87E5A-C157-4D8F-99A8-62A24CB99FF3}" type="slidenum">
              <a:rPr lang="en-US" altLang="en-US" b="1" smtClean="0">
                <a:solidFill>
                  <a:schemeClr val="tx1"/>
                </a:solidFill>
              </a:rPr>
              <a:t>17</a:t>
            </a:fld>
            <a:endParaRPr lang="en-US" altLang="en-US" b="1" dirty="0">
              <a:solidFill>
                <a:schemeClr val="tx1"/>
              </a:solidFill>
            </a:endParaRPr>
          </a:p>
        </p:txBody>
      </p:sp>
      <p:sp>
        <p:nvSpPr>
          <p:cNvPr id="8" name="TextBox 7">
            <a:extLst>
              <a:ext uri="{FF2B5EF4-FFF2-40B4-BE49-F238E27FC236}">
                <a16:creationId xmlns:a16="http://schemas.microsoft.com/office/drawing/2014/main" id="{B12C9986-F552-7DB6-DC35-C7471A812FED}"/>
              </a:ext>
            </a:extLst>
          </p:cNvPr>
          <p:cNvSpPr txBox="1"/>
          <p:nvPr/>
        </p:nvSpPr>
        <p:spPr>
          <a:xfrm>
            <a:off x="304800" y="457200"/>
            <a:ext cx="11658600" cy="5386090"/>
          </a:xfrm>
          <a:prstGeom prst="rect">
            <a:avLst/>
          </a:prstGeom>
          <a:noFill/>
        </p:spPr>
        <p:txBody>
          <a:bodyPr wrap="square">
            <a:spAutoFit/>
          </a:bodyPr>
          <a:lstStyle/>
          <a:p>
            <a:r>
              <a:rPr lang="en-IN" sz="3200" b="1" u="sng" dirty="0">
                <a:latin typeface="Times New Roman" panose="02020603050405020304" pitchFamily="18" charset="0"/>
                <a:cs typeface="Times New Roman" panose="02020603050405020304" pitchFamily="18" charset="0"/>
              </a:rPr>
              <a:t>References:-</a:t>
            </a:r>
          </a:p>
          <a:p>
            <a:pPr algn="just"/>
            <a:r>
              <a:rPr lang="en-IN" sz="2000" dirty="0">
                <a:latin typeface="Times New Roman" panose="02020603050405020304" pitchFamily="18" charset="0"/>
                <a:cs typeface="Times New Roman" panose="02020603050405020304" pitchFamily="18" charset="0"/>
              </a:rPr>
              <a:t>1</a:t>
            </a:r>
            <a:r>
              <a:rPr lang="en-IN" sz="2400" dirty="0">
                <a:latin typeface="Times New Roman" panose="02020603050405020304" pitchFamily="18" charset="0"/>
                <a:cs typeface="Times New Roman" panose="02020603050405020304" pitchFamily="18" charset="0"/>
              </a:rPr>
              <a:t>. Gischel, B., EPLAN Electric P8 Reference Handbook, Carl Hanser Verlag,</a:t>
            </a:r>
          </a:p>
          <a:p>
            <a:pPr algn="just"/>
            <a:r>
              <a:rPr lang="en-IN" sz="2400" dirty="0">
                <a:latin typeface="Times New Roman" panose="02020603050405020304" pitchFamily="18" charset="0"/>
                <a:cs typeface="Times New Roman" panose="02020603050405020304" pitchFamily="18" charset="0"/>
              </a:rPr>
              <a:t>    Germany, 2014.</a:t>
            </a:r>
          </a:p>
          <a:p>
            <a:pPr algn="just"/>
            <a:r>
              <a:rPr lang="en-IN" sz="2400" dirty="0">
                <a:latin typeface="Times New Roman" panose="02020603050405020304" pitchFamily="18" charset="0"/>
                <a:cs typeface="Times New Roman" panose="02020603050405020304" pitchFamily="18" charset="0"/>
              </a:rPr>
              <a:t>2. Campbell, S. J., Solid-State AC Motor Controls, Marcel Dekker Inc., New York,</a:t>
            </a:r>
          </a:p>
          <a:p>
            <a:pPr algn="just"/>
            <a:r>
              <a:rPr lang="en-IN" sz="2400" dirty="0">
                <a:latin typeface="Times New Roman" panose="02020603050405020304" pitchFamily="18" charset="0"/>
                <a:cs typeface="Times New Roman" panose="02020603050405020304" pitchFamily="18" charset="0"/>
              </a:rPr>
              <a:t>    1989.</a:t>
            </a:r>
          </a:p>
          <a:p>
            <a:pPr algn="just"/>
            <a:r>
              <a:rPr lang="en-IN" sz="2400" dirty="0">
                <a:latin typeface="Times New Roman" panose="02020603050405020304" pitchFamily="18" charset="0"/>
                <a:cs typeface="Times New Roman" panose="02020603050405020304" pitchFamily="18" charset="0"/>
              </a:rPr>
              <a:t>3. Siskind, C. S., Electrical Control Systems in Industry, McGraw-Hill Education,</a:t>
            </a:r>
          </a:p>
          <a:p>
            <a:pPr algn="just"/>
            <a:r>
              <a:rPr lang="en-IN" sz="2400" dirty="0">
                <a:latin typeface="Times New Roman" panose="02020603050405020304" pitchFamily="18" charset="0"/>
                <a:cs typeface="Times New Roman" panose="02020603050405020304" pitchFamily="18" charset="0"/>
              </a:rPr>
              <a:t>    2001.</a:t>
            </a:r>
          </a:p>
          <a:p>
            <a:pPr algn="just"/>
            <a:r>
              <a:rPr lang="en-IN" sz="2400" dirty="0">
                <a:latin typeface="Times New Roman" panose="02020603050405020304" pitchFamily="18" charset="0"/>
                <a:cs typeface="Times New Roman" panose="02020603050405020304" pitchFamily="18" charset="0"/>
              </a:rPr>
              <a:t>4. Bose, B. K., Modern Power Electronics and AC Drives, Prentice Hall, 2002.</a:t>
            </a:r>
          </a:p>
          <a:p>
            <a:pPr algn="just"/>
            <a:r>
              <a:rPr lang="en-IN" sz="2400" dirty="0">
                <a:latin typeface="Times New Roman" panose="02020603050405020304" pitchFamily="18" charset="0"/>
                <a:cs typeface="Times New Roman" panose="02020603050405020304" pitchFamily="18" charset="0"/>
              </a:rPr>
              <a:t>5. Rashid, M. H., Power Electronics: Circuits, Devices, and Applications, Pearson</a:t>
            </a:r>
          </a:p>
          <a:p>
            <a:pPr algn="just"/>
            <a:r>
              <a:rPr lang="en-IN" sz="2400" dirty="0">
                <a:latin typeface="Times New Roman" panose="02020603050405020304" pitchFamily="18" charset="0"/>
                <a:cs typeface="Times New Roman" panose="02020603050405020304" pitchFamily="18" charset="0"/>
              </a:rPr>
              <a:t>    Education, 2014.</a:t>
            </a:r>
          </a:p>
          <a:p>
            <a:pPr algn="just"/>
            <a:r>
              <a:rPr lang="en-IN" sz="2400" dirty="0">
                <a:latin typeface="Times New Roman" panose="02020603050405020304" pitchFamily="18" charset="0"/>
                <a:cs typeface="Times New Roman" panose="02020603050405020304" pitchFamily="18" charset="0"/>
              </a:rPr>
              <a:t>6. ABB Group, Technical Guide No. 4 – Guide to Variable Speed Drives, ABB</a:t>
            </a:r>
          </a:p>
          <a:p>
            <a:pPr algn="just"/>
            <a:r>
              <a:rPr lang="en-IN" sz="2400" dirty="0">
                <a:latin typeface="Times New Roman" panose="02020603050405020304" pitchFamily="18" charset="0"/>
                <a:cs typeface="Times New Roman" panose="02020603050405020304" pitchFamily="18" charset="0"/>
              </a:rPr>
              <a:t>    Publication, 2011.</a:t>
            </a:r>
          </a:p>
          <a:p>
            <a:pPr algn="just"/>
            <a:r>
              <a:rPr lang="en-IN" sz="2400" dirty="0">
                <a:latin typeface="Times New Roman" panose="02020603050405020304" pitchFamily="18" charset="0"/>
                <a:cs typeface="Times New Roman" panose="02020603050405020304" pitchFamily="18" charset="0"/>
              </a:rPr>
              <a:t>7. Siemens AG, SINAMICS Low Voltage Drives System Manual, Siemens Industry,</a:t>
            </a:r>
          </a:p>
          <a:p>
            <a:pPr algn="just"/>
            <a:r>
              <a:rPr lang="en-IN" sz="2400" dirty="0">
                <a:latin typeface="Times New Roman" panose="02020603050405020304" pitchFamily="18" charset="0"/>
                <a:cs typeface="Times New Roman" panose="02020603050405020304" pitchFamily="18" charset="0"/>
              </a:rPr>
              <a:t>    2018.</a:t>
            </a:r>
          </a:p>
        </p:txBody>
      </p:sp>
    </p:spTree>
    <p:extLst>
      <p:ext uri="{BB962C8B-B14F-4D97-AF65-F5344CB8AC3E}">
        <p14:creationId xmlns:p14="http://schemas.microsoft.com/office/powerpoint/2010/main" val="2442867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IN" sz="3200" b="1" u="sng" dirty="0">
                <a:solidFill>
                  <a:srgbClr val="002060"/>
                </a:solidFill>
                <a:latin typeface="Times New Roman" panose="02020603050405020304" pitchFamily="18" charset="0"/>
                <a:cs typeface="Times New Roman" panose="02020603050405020304" pitchFamily="18" charset="0"/>
                <a:sym typeface="+mn-ea"/>
              </a:rPr>
              <a:t>Conclusion</a:t>
            </a:r>
            <a:r>
              <a:rPr lang="en-IN" sz="3200" b="1" u="sng" dirty="0">
                <a:solidFill>
                  <a:srgbClr val="002060"/>
                </a:solidFill>
                <a:latin typeface="Times New Roman" panose="02020603050405020304" pitchFamily="18" charset="0"/>
                <a:cs typeface="Times New Roman" panose="02020603050405020304" pitchFamily="18" charset="0"/>
                <a:sym typeface="+mn-ea"/>
              </a:rPr>
              <a:t>:</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9600" y="1600201"/>
            <a:ext cx="10972800" cy="4343399"/>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The design of a VFD motor control panel using </a:t>
            </a:r>
            <a:r>
              <a:rPr lang="en-US" sz="2400" b="1" dirty="0">
                <a:latin typeface="Times New Roman" panose="02020603050405020304" pitchFamily="18" charset="0"/>
                <a:cs typeface="Times New Roman" panose="02020603050405020304" pitchFamily="18" charset="0"/>
              </a:rPr>
              <a:t>EPLAN Electric P8</a:t>
            </a:r>
            <a:r>
              <a:rPr lang="en-US" sz="2400" dirty="0">
                <a:latin typeface="Times New Roman" panose="02020603050405020304" pitchFamily="18" charset="0"/>
                <a:cs typeface="Times New Roman" panose="02020603050405020304" pitchFamily="18" charset="0"/>
              </a:rPr>
              <a:t> provides an efficient and reliable solution for induction motor control. The integration of VFD technology ensures accurate speed and torque control with improved energy efficiency and safe operation. EPLAN Electric P8 enables standardized and precise electrical documentation, including schematics, terminal layouts, and bill of materials. This reduces design errors and engineering time while simplifying modifications. Clear documentation also improves installation, troubleshooting, and maintenance.</a:t>
            </a:r>
            <a:endParaRPr lang="en-IN"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r>
              <a:rPr lang="en-US" b="1" dirty="0">
                <a:solidFill>
                  <a:srgbClr val="002060"/>
                </a:solidFill>
              </a:rPr>
              <a:t>10/04/2026</a:t>
            </a:r>
          </a:p>
          <a:p>
            <a:pPr>
              <a:defRPr/>
            </a:pPr>
            <a:endParaRPr lang="en-US" b="1" dirty="0">
              <a:solidFill>
                <a:schemeClr val="tx1">
                  <a:lumMod val="95000"/>
                  <a:lumOff val="5000"/>
                </a:schemeClr>
              </a:solidFill>
            </a:endParaRPr>
          </a:p>
        </p:txBody>
      </p:sp>
      <p:sp>
        <p:nvSpPr>
          <p:cNvPr id="5" name="Footer Placeholder 4"/>
          <p:cNvSpPr>
            <a:spLocks noGrp="1"/>
          </p:cNvSpPr>
          <p:nvPr>
            <p:ph type="ftr" sz="quarter" idx="11"/>
          </p:nvPr>
        </p:nvSpPr>
        <p:spPr/>
        <p:txBody>
          <a:bodyPr/>
          <a:lstStyle/>
          <a:p>
            <a:pPr>
              <a:defRPr/>
            </a:pPr>
            <a:r>
              <a:rPr lang="en-US" b="1" dirty="0">
                <a:solidFill>
                  <a:schemeClr val="tx1">
                    <a:lumMod val="95000"/>
                    <a:lumOff val="5000"/>
                  </a:schemeClr>
                </a:solidFill>
              </a:rPr>
              <a:t>Department of EEE</a:t>
            </a:r>
          </a:p>
        </p:txBody>
      </p:sp>
      <p:sp>
        <p:nvSpPr>
          <p:cNvPr id="6" name="Slide Number Placeholder 5"/>
          <p:cNvSpPr>
            <a:spLocks noGrp="1"/>
          </p:cNvSpPr>
          <p:nvPr>
            <p:ph type="sldNum" sz="quarter" idx="12"/>
          </p:nvPr>
        </p:nvSpPr>
        <p:spPr/>
        <p:txBody>
          <a:bodyPr/>
          <a:lstStyle/>
          <a:p>
            <a:fld id="{330E8D90-5B8A-4CC9-8BFA-8E8CA5E448F2}" type="slidenum">
              <a:rPr lang="en-US" altLang="en-US" b="1">
                <a:solidFill>
                  <a:schemeClr val="tx1">
                    <a:lumMod val="95000"/>
                    <a:lumOff val="5000"/>
                  </a:schemeClr>
                </a:solidFill>
              </a:rPr>
              <a:t>18</a:t>
            </a:fld>
            <a:endParaRPr lang="en-US" altLang="en-US" b="1" dirty="0">
              <a:solidFill>
                <a:schemeClr val="tx1">
                  <a:lumMod val="95000"/>
                  <a:lumOff val="5000"/>
                </a:schemeClr>
              </a:solidFill>
            </a:endParaRPr>
          </a:p>
        </p:txBody>
      </p:sp>
      <p:pic>
        <p:nvPicPr>
          <p:cNvPr id="7" name="Picture 6"/>
          <p:cNvPicPr>
            <a:picLocks noChangeAspect="1"/>
          </p:cNvPicPr>
          <p:nvPr/>
        </p:nvPicPr>
        <p:blipFill>
          <a:blip r:embed="rId3"/>
          <a:stretch>
            <a:fillRect/>
          </a:stretch>
        </p:blipFill>
        <p:spPr>
          <a:xfrm>
            <a:off x="10132009" y="0"/>
            <a:ext cx="2036240" cy="6828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914400" y="629352"/>
            <a:ext cx="2743200" cy="838200"/>
          </a:xfrm>
        </p:spPr>
        <p:txBody>
          <a:bodyPr/>
          <a:lstStyle/>
          <a:p>
            <a:pPr marL="0" indent="0">
              <a:buNone/>
            </a:pPr>
            <a:r>
              <a:rPr lang="en-US" dirty="0">
                <a:solidFill>
                  <a:srgbClr val="002060"/>
                </a:solidFill>
                <a:latin typeface="Times New Roman" panose="02020603050405020304" pitchFamily="18" charset="0"/>
                <a:cs typeface="Times New Roman" panose="02020603050405020304" pitchFamily="18" charset="0"/>
              </a:rPr>
              <a:t>Any queries</a:t>
            </a:r>
            <a:r>
              <a:rPr lang="en-US" dirty="0">
                <a:solidFill>
                  <a:srgbClr val="002060"/>
                </a:solidFill>
              </a:rPr>
              <a:t>?</a:t>
            </a:r>
            <a:endParaRPr lang="en-IN" dirty="0">
              <a:solidFill>
                <a:srgbClr val="002060"/>
              </a:solidFill>
            </a:endParaRPr>
          </a:p>
        </p:txBody>
      </p:sp>
      <p:sp>
        <p:nvSpPr>
          <p:cNvPr id="2" name="Date Placeholder 1"/>
          <p:cNvSpPr>
            <a:spLocks noGrp="1"/>
          </p:cNvSpPr>
          <p:nvPr>
            <p:ph type="dt" sz="half" idx="10"/>
          </p:nvPr>
        </p:nvSpPr>
        <p:spPr/>
        <p:txBody>
          <a:bodyPr/>
          <a:lstStyle/>
          <a:p>
            <a:pPr>
              <a:defRPr/>
            </a:pPr>
            <a:r>
              <a:rPr lang="en-US" b="1" dirty="0">
                <a:solidFill>
                  <a:srgbClr val="002060"/>
                </a:solidFill>
              </a:rPr>
              <a:t>10/04/2026</a:t>
            </a:r>
          </a:p>
        </p:txBody>
      </p:sp>
      <p:sp>
        <p:nvSpPr>
          <p:cNvPr id="3" name="Footer Placeholder 2"/>
          <p:cNvSpPr>
            <a:spLocks noGrp="1"/>
          </p:cNvSpPr>
          <p:nvPr>
            <p:ph type="ftr" sz="quarter" idx="11"/>
          </p:nvPr>
        </p:nvSpPr>
        <p:spPr/>
        <p:txBody>
          <a:bodyPr/>
          <a:lstStyle/>
          <a:p>
            <a:pPr>
              <a:defRPr/>
            </a:pPr>
            <a:r>
              <a:rPr lang="en-US" b="1" dirty="0">
                <a:solidFill>
                  <a:schemeClr val="tx1"/>
                </a:solidFill>
              </a:rPr>
              <a:t>Department of EEE</a:t>
            </a:r>
          </a:p>
        </p:txBody>
      </p:sp>
      <p:sp>
        <p:nvSpPr>
          <p:cNvPr id="4" name="Slide Number Placeholder 3"/>
          <p:cNvSpPr>
            <a:spLocks noGrp="1"/>
          </p:cNvSpPr>
          <p:nvPr>
            <p:ph type="sldNum" sz="quarter" idx="12"/>
          </p:nvPr>
        </p:nvSpPr>
        <p:spPr/>
        <p:txBody>
          <a:bodyPr/>
          <a:lstStyle/>
          <a:p>
            <a:fld id="{DCC87E5A-C157-4D8F-99A8-62A24CB99FF3}" type="slidenum">
              <a:rPr lang="en-US" altLang="en-US" b="1" smtClean="0">
                <a:solidFill>
                  <a:schemeClr val="tx1"/>
                </a:solidFill>
              </a:rPr>
              <a:t>19</a:t>
            </a:fld>
            <a:endParaRPr lang="en-US" altLang="en-US" b="1" dirty="0">
              <a:solidFill>
                <a:schemeClr val="tx1"/>
              </a:solidFill>
            </a:endParaRPr>
          </a:p>
        </p:txBody>
      </p:sp>
      <p:pic>
        <p:nvPicPr>
          <p:cNvPr id="6" name="Picture 5"/>
          <p:cNvPicPr>
            <a:picLocks noChangeAspect="1"/>
          </p:cNvPicPr>
          <p:nvPr/>
        </p:nvPicPr>
        <p:blipFill>
          <a:blip r:embed="rId2"/>
          <a:stretch>
            <a:fillRect/>
          </a:stretch>
        </p:blipFill>
        <p:spPr>
          <a:xfrm>
            <a:off x="10155760" y="0"/>
            <a:ext cx="2036240" cy="682811"/>
          </a:xfrm>
          <a:prstGeom prst="rect">
            <a:avLst/>
          </a:prstGeom>
        </p:spPr>
      </p:pic>
      <p:pic>
        <p:nvPicPr>
          <p:cNvPr id="12" name="Picture 11"/>
          <p:cNvPicPr>
            <a:picLocks noChangeAspect="1"/>
          </p:cNvPicPr>
          <p:nvPr/>
        </p:nvPicPr>
        <p:blipFill>
          <a:blip r:embed="rId3"/>
          <a:stretch>
            <a:fillRect/>
          </a:stretch>
        </p:blipFill>
        <p:spPr>
          <a:xfrm>
            <a:off x="3114675" y="1443037"/>
            <a:ext cx="5962650" cy="3971925"/>
          </a:xfrm>
          <a:prstGeom prst="rect">
            <a:avLst/>
          </a:prstGeom>
        </p:spPr>
      </p:pic>
    </p:spTree>
    <p:extLst>
      <p:ext uri="{BB962C8B-B14F-4D97-AF65-F5344CB8AC3E}">
        <p14:creationId xmlns:p14="http://schemas.microsoft.com/office/powerpoint/2010/main" val="514067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TotalTime>
  <Words>1184</Words>
  <Application>Microsoft Office PowerPoint</Application>
  <PresentationFormat>Widescreen</PresentationFormat>
  <Paragraphs>195</Paragraphs>
  <Slides>19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Office Theme</vt:lpstr>
      <vt:lpstr>PowerPoint Presentation</vt:lpstr>
      <vt:lpstr>PowerPoint Presentation</vt:lpstr>
      <vt:lpstr>PowerPoint Presentation</vt:lpstr>
      <vt:lpstr>Aim of the project:-</vt:lpstr>
      <vt:lpstr>PowerPoint Presentation</vt:lpstr>
      <vt:lpstr>PowerPoint Presentation</vt:lpstr>
      <vt:lpstr>Proposal Abstract:-</vt:lpstr>
      <vt:lpstr>PowerPoint Presentation</vt:lpstr>
      <vt:lpstr>PowerPoint Presentation</vt:lpstr>
      <vt:lpstr>PowerPoint Presentation</vt:lpstr>
      <vt:lpstr>PowerPoint Presentation</vt:lpstr>
      <vt:lpstr>Control Circuit for VFD:-</vt:lpstr>
      <vt:lpstr>CHARACTERISTICS OF VFD</vt:lpstr>
      <vt:lpstr>PowerPoint Presentation</vt:lpstr>
      <vt:lpstr>Overview of  2D panel layout:-</vt:lpstr>
      <vt:lpstr>Advantages: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Naresh</dc:creator>
  <cp:lastModifiedBy>Sivaramakrishna Kaila</cp:lastModifiedBy>
  <cp:revision>294</cp:revision>
  <dcterms:created xsi:type="dcterms:W3CDTF">2011-08-26T07:09:00Z</dcterms:created>
  <dcterms:modified xsi:type="dcterms:W3CDTF">2026-04-09T15:35:53Z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896DD9E9913B4611B90C0904FFB2DE1B_12</vt:lpwstr>
  </property>
  <property fmtid="{D5CDD505-2E9C-101B-9397-08002B2CF9AE}" pid="3" name="KSOProductBuildVer">
    <vt:lpwstr>1033-12.2.0.20795</vt:lpwstr>
  </property>
</Properties>
</file>